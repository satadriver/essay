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92" r:id="rId1"/>
  </p:sldMasterIdLst>
  <p:notesMasterIdLst>
    <p:notesMasterId r:id="rId37"/>
  </p:notesMasterIdLst>
  <p:sldIdLst>
    <p:sldId id="256" r:id="rId2"/>
    <p:sldId id="257" r:id="rId3"/>
    <p:sldId id="258" r:id="rId4"/>
    <p:sldId id="288" r:id="rId5"/>
    <p:sldId id="289" r:id="rId6"/>
    <p:sldId id="287" r:id="rId7"/>
    <p:sldId id="282" r:id="rId8"/>
    <p:sldId id="281" r:id="rId9"/>
    <p:sldId id="299" r:id="rId10"/>
    <p:sldId id="302" r:id="rId11"/>
    <p:sldId id="309" r:id="rId12"/>
    <p:sldId id="290" r:id="rId13"/>
    <p:sldId id="291" r:id="rId14"/>
    <p:sldId id="292" r:id="rId15"/>
    <p:sldId id="276" r:id="rId16"/>
    <p:sldId id="277" r:id="rId17"/>
    <p:sldId id="278" r:id="rId18"/>
    <p:sldId id="307" r:id="rId19"/>
    <p:sldId id="310" r:id="rId20"/>
    <p:sldId id="280" r:id="rId21"/>
    <p:sldId id="308" r:id="rId22"/>
    <p:sldId id="293" r:id="rId23"/>
    <p:sldId id="305" r:id="rId24"/>
    <p:sldId id="304" r:id="rId25"/>
    <p:sldId id="306" r:id="rId26"/>
    <p:sldId id="294" r:id="rId27"/>
    <p:sldId id="279" r:id="rId28"/>
    <p:sldId id="303" r:id="rId29"/>
    <p:sldId id="296" r:id="rId30"/>
    <p:sldId id="283" r:id="rId31"/>
    <p:sldId id="285" r:id="rId32"/>
    <p:sldId id="284" r:id="rId33"/>
    <p:sldId id="286" r:id="rId34"/>
    <p:sldId id="295" r:id="rId35"/>
    <p:sldId id="275" r:id="rId36"/>
  </p:sldIdLst>
  <p:sldSz cx="18288000" cy="10287000"/>
  <p:notesSz cx="6858000" cy="9144000"/>
  <p:embeddedFontLst>
    <p:embeddedFont>
      <p:font typeface="Montserrat Bold" panose="02010600030101010101" charset="0"/>
      <p:bold r:id="rId38"/>
    </p:embeddedFont>
    <p:embeddedFont>
      <p:font typeface="等线 Light" panose="02010600030101010101" pitchFamily="2" charset="-122"/>
      <p:regular r:id="rId39"/>
    </p:embeddedFont>
    <p:embeddedFont>
      <p:font typeface="黑体" panose="02010609060101010101" pitchFamily="49" charset="-122"/>
      <p:regular r:id="rId40"/>
    </p:embeddedFont>
    <p:embeddedFont>
      <p:font typeface="Calibri Light" panose="020F0302020204030204" pitchFamily="34" charset="0"/>
      <p:regular r:id="rId41"/>
      <p:italic r:id="rId42"/>
    </p:embeddedFont>
    <p:embeddedFont>
      <p:font typeface="Calibri" panose="020F0502020204030204" pitchFamily="34" charset="0"/>
      <p:regular r:id="rId43"/>
      <p:bold r:id="rId44"/>
      <p:italic r:id="rId45"/>
      <p:boldItalic r:id="rId46"/>
    </p:embeddedFont>
    <p:embeddedFont>
      <p:font typeface="Cambria Math" panose="02040503050406030204" pitchFamily="18" charset="0"/>
      <p:regular r:id="rId47"/>
    </p:embeddedFont>
    <p:embeddedFont>
      <p:font typeface="等线" panose="02010600030101010101" pitchFamily="2" charset="-122"/>
      <p:regular r:id="rId48"/>
      <p:bold r:id="rId49"/>
    </p:embeddedFont>
  </p:embeddedFontLst>
  <p:custDataLst>
    <p:tags r:id="rId5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4221223-DFE6-4293-BC49-649EF9941FB9}">
          <p14:sldIdLst>
            <p14:sldId id="256"/>
            <p14:sldId id="257"/>
            <p14:sldId id="258"/>
            <p14:sldId id="288"/>
            <p14:sldId id="289"/>
            <p14:sldId id="287"/>
            <p14:sldId id="282"/>
            <p14:sldId id="281"/>
            <p14:sldId id="299"/>
            <p14:sldId id="302"/>
            <p14:sldId id="309"/>
            <p14:sldId id="290"/>
            <p14:sldId id="291"/>
            <p14:sldId id="292"/>
            <p14:sldId id="276"/>
            <p14:sldId id="277"/>
            <p14:sldId id="278"/>
            <p14:sldId id="307"/>
            <p14:sldId id="310"/>
            <p14:sldId id="280"/>
            <p14:sldId id="308"/>
            <p14:sldId id="293"/>
            <p14:sldId id="305"/>
            <p14:sldId id="304"/>
            <p14:sldId id="306"/>
            <p14:sldId id="294"/>
            <p14:sldId id="279"/>
            <p14:sldId id="303"/>
            <p14:sldId id="296"/>
            <p14:sldId id="283"/>
            <p14:sldId id="285"/>
            <p14:sldId id="284"/>
            <p14:sldId id="286"/>
            <p14:sldId id="295"/>
          </p14:sldIdLst>
        </p14:section>
        <p14:section name="无标题节" id="{8006E0D6-8C46-4F2D-9499-6F634CF7A299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9" userDrawn="1">
          <p15:clr>
            <a:srgbClr val="A4A3A4"/>
          </p15:clr>
        </p15:guide>
        <p15:guide id="2" pos="27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43" d="100"/>
          <a:sy n="43" d="100"/>
        </p:scale>
        <p:origin x="740" y="100"/>
      </p:cViewPr>
      <p:guideLst>
        <p:guide orient="horz" pos="2109"/>
        <p:guide pos="279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5892B4-2E6F-4D2B-938C-FF32D60A0776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B46213-D0E7-48AF-9F01-C70A202AD0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380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46213-D0E7-48AF-9F01-C70A202AD0A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131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1138428"/>
            <a:ext cx="15087600" cy="534924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12000" spc="-75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0077" y="6683430"/>
            <a:ext cx="15087600" cy="17145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3600" cap="all" spc="300" baseline="0">
                <a:solidFill>
                  <a:schemeClr val="tx2"/>
                </a:solidFill>
                <a:latin typeface="+mj-lt"/>
              </a:defRPr>
            </a:lvl1pPr>
            <a:lvl2pPr marL="685800" indent="0" algn="ctr">
              <a:buNone/>
              <a:defRPr sz="3600"/>
            </a:lvl2pPr>
            <a:lvl3pPr marL="1371600" indent="0" algn="ctr">
              <a:buNone/>
              <a:defRPr sz="3600"/>
            </a:lvl3pPr>
            <a:lvl4pPr marL="2057400" indent="0" algn="ctr">
              <a:buNone/>
              <a:defRPr sz="3000"/>
            </a:lvl4pPr>
            <a:lvl5pPr marL="2743200" indent="0" algn="ctr">
              <a:buNone/>
              <a:defRPr sz="3000"/>
            </a:lvl5pPr>
            <a:lvl6pPr marL="3429000" indent="0" algn="ctr">
              <a:buNone/>
              <a:defRPr sz="3000"/>
            </a:lvl6pPr>
            <a:lvl7pPr marL="4114800" indent="0" algn="ctr">
              <a:buNone/>
              <a:defRPr sz="3000"/>
            </a:lvl7pPr>
            <a:lvl8pPr marL="4800600" indent="0" algn="ctr">
              <a:buNone/>
              <a:defRPr sz="3000"/>
            </a:lvl8pPr>
            <a:lvl9pPr marL="5486400" indent="0" algn="ctr">
              <a:buNone/>
              <a:defRPr sz="3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6728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97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38428"/>
            <a:ext cx="15087600" cy="534924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12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6679692"/>
            <a:ext cx="15087600" cy="17145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3600" cap="all" spc="300" baseline="0">
                <a:solidFill>
                  <a:schemeClr val="tx2"/>
                </a:solidFill>
                <a:latin typeface="+mj-lt"/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547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19" y="2768601"/>
            <a:ext cx="7406640" cy="603504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26880" y="2768603"/>
            <a:ext cx="7406640" cy="603504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473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2769078"/>
            <a:ext cx="7406640" cy="110442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000" b="0" cap="all" baseline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3873501"/>
            <a:ext cx="7406640" cy="5067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26880" y="2769078"/>
            <a:ext cx="7406640" cy="110442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000" b="0" cap="all" baseline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26880" y="3873501"/>
            <a:ext cx="7406640" cy="5067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22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2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445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5" y="0"/>
            <a:ext cx="6076187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060107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1538"/>
            <a:ext cx="4800600" cy="3429000"/>
          </a:xfrm>
        </p:spPr>
        <p:txBody>
          <a:bodyPr anchor="b">
            <a:normAutofit/>
          </a:bodyPr>
          <a:lstStyle>
            <a:lvl1pPr>
              <a:defRPr sz="54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900" y="1097280"/>
            <a:ext cx="9738360" cy="78867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389120"/>
            <a:ext cx="4800600" cy="5068686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98268" y="9689678"/>
            <a:ext cx="3927765" cy="547688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200900" y="9689678"/>
            <a:ext cx="6972300" cy="54768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6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7429500"/>
            <a:ext cx="18283238" cy="285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3" y="737261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7612380"/>
            <a:ext cx="15169896" cy="1234440"/>
          </a:xfrm>
        </p:spPr>
        <p:txBody>
          <a:bodyPr lIns="91440" tIns="0" rIns="91440" bIns="0" anchor="b">
            <a:noAutofit/>
          </a:bodyPr>
          <a:lstStyle>
            <a:lvl1pPr>
              <a:defRPr sz="54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" y="0"/>
            <a:ext cx="18287978" cy="7372614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4800">
                <a:solidFill>
                  <a:schemeClr val="bg1"/>
                </a:solidFill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0" y="8860535"/>
            <a:ext cx="15169896" cy="89154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46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033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622168"/>
            <a:ext cx="3943350" cy="863613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622167"/>
            <a:ext cx="11601450" cy="8636133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439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9601200"/>
            <a:ext cx="182880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9501474"/>
            <a:ext cx="18288002" cy="98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790298" y="2606768"/>
            <a:ext cx="149504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678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1371600" rtl="0" eaLnBrk="1" latinLnBrk="0" hangingPunct="1">
        <a:lnSpc>
          <a:spcPct val="85000"/>
        </a:lnSpc>
        <a:spcBef>
          <a:spcPct val="0"/>
        </a:spcBef>
        <a:buNone/>
        <a:defRPr sz="7200" kern="1200" spc="-75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1371600" rtl="0" eaLnBrk="1" latinLnBrk="0" hangingPunct="1">
        <a:lnSpc>
          <a:spcPct val="90000"/>
        </a:lnSpc>
        <a:spcBef>
          <a:spcPts val="1800"/>
        </a:spcBef>
        <a:spcAft>
          <a:spcPts val="3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3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7607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039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2471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9903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4953" y="0"/>
            <a:ext cx="4147544" cy="10287000"/>
            <a:chOff x="0" y="0"/>
            <a:chExt cx="109235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2357" cy="2709333"/>
            </a:xfrm>
            <a:custGeom>
              <a:avLst/>
              <a:gdLst/>
              <a:ahLst/>
              <a:cxnLst/>
              <a:rect l="l" t="t" r="r" b="b"/>
              <a:pathLst>
                <a:path w="1092357" h="2709333">
                  <a:moveTo>
                    <a:pt x="0" y="0"/>
                  </a:moveTo>
                  <a:lnTo>
                    <a:pt x="1092357" y="0"/>
                  </a:lnTo>
                  <a:lnTo>
                    <a:pt x="109235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092357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19660" y="0"/>
            <a:ext cx="288245" cy="10287000"/>
            <a:chOff x="0" y="0"/>
            <a:chExt cx="75916" cy="27093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5916" cy="2709333"/>
            </a:xfrm>
            <a:custGeom>
              <a:avLst/>
              <a:gdLst/>
              <a:ahLst/>
              <a:cxnLst/>
              <a:rect l="l" t="t" r="r" b="b"/>
              <a:pathLst>
                <a:path w="75916" h="2709333">
                  <a:moveTo>
                    <a:pt x="0" y="0"/>
                  </a:moveTo>
                  <a:lnTo>
                    <a:pt x="75916" y="0"/>
                  </a:lnTo>
                  <a:lnTo>
                    <a:pt x="7591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C0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7591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676503" y="1257300"/>
            <a:ext cx="2231988" cy="223198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714603" y="1295400"/>
            <a:ext cx="2155788" cy="215578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F983A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5014791" y="1878071"/>
            <a:ext cx="1555412" cy="990445"/>
          </a:xfrm>
          <a:custGeom>
            <a:avLst/>
            <a:gdLst/>
            <a:ahLst/>
            <a:cxnLst/>
            <a:rect l="l" t="t" r="r" b="b"/>
            <a:pathLst>
              <a:path w="1555412" h="990445">
                <a:moveTo>
                  <a:pt x="0" y="0"/>
                </a:moveTo>
                <a:lnTo>
                  <a:pt x="1555412" y="0"/>
                </a:lnTo>
                <a:lnTo>
                  <a:pt x="1555412" y="990445"/>
                </a:lnTo>
                <a:lnTo>
                  <a:pt x="0" y="990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644953" y="4296585"/>
            <a:ext cx="4147544" cy="5940338"/>
            <a:chOff x="0" y="0"/>
            <a:chExt cx="443357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33570" cy="6350000"/>
            </a:xfrm>
            <a:custGeom>
              <a:avLst/>
              <a:gdLst/>
              <a:ahLst/>
              <a:cxnLst/>
              <a:rect l="l" t="t" r="r" b="b"/>
              <a:pathLst>
                <a:path w="4433570" h="6350000">
                  <a:moveTo>
                    <a:pt x="2217420" y="0"/>
                  </a:moveTo>
                  <a:lnTo>
                    <a:pt x="2217420" y="0"/>
                  </a:lnTo>
                  <a:cubicBezTo>
                    <a:pt x="3441700" y="0"/>
                    <a:pt x="4433570" y="993140"/>
                    <a:pt x="4433570" y="2217420"/>
                  </a:cubicBezTo>
                  <a:lnTo>
                    <a:pt x="4433570" y="6350000"/>
                  </a:lnTo>
                  <a:lnTo>
                    <a:pt x="4433570" y="6350000"/>
                  </a:lnTo>
                  <a:lnTo>
                    <a:pt x="0" y="6350000"/>
                  </a:lnTo>
                  <a:lnTo>
                    <a:pt x="0" y="6350000"/>
                  </a:lnTo>
                  <a:lnTo>
                    <a:pt x="0" y="2217420"/>
                  </a:lnTo>
                  <a:cubicBezTo>
                    <a:pt x="0" y="993140"/>
                    <a:pt x="993140" y="0"/>
                    <a:pt x="2217420" y="0"/>
                  </a:cubicBezTo>
                  <a:close/>
                </a:path>
              </a:pathLst>
            </a:custGeom>
            <a:blipFill>
              <a:blip r:embed="rId3"/>
              <a:stretch>
                <a:fillRect t="-2364" b="-2364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8538038" y="4466328"/>
            <a:ext cx="3594511" cy="207401"/>
            <a:chOff x="0" y="0"/>
            <a:chExt cx="946702" cy="5462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46702" cy="54624"/>
            </a:xfrm>
            <a:custGeom>
              <a:avLst/>
              <a:gdLst/>
              <a:ahLst/>
              <a:cxnLst/>
              <a:rect l="l" t="t" r="r" b="b"/>
              <a:pathLst>
                <a:path w="946702" h="54624">
                  <a:moveTo>
                    <a:pt x="0" y="0"/>
                  </a:moveTo>
                  <a:lnTo>
                    <a:pt x="946702" y="0"/>
                  </a:lnTo>
                  <a:lnTo>
                    <a:pt x="946702" y="54624"/>
                  </a:lnTo>
                  <a:lnTo>
                    <a:pt x="0" y="54624"/>
                  </a:lnTo>
                  <a:close/>
                </a:path>
              </a:pathLst>
            </a:custGeom>
            <a:solidFill>
              <a:srgbClr val="FFC00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946702" cy="831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611828" y="2182803"/>
            <a:ext cx="2566359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ea typeface="思源宋体 Bold" panose="02020700000000000000" charset="-122"/>
              </a:rPr>
              <a:t>饮水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69035" y="2182803"/>
            <a:ext cx="2566359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ea typeface="思源宋体 Bold" panose="02020700000000000000" charset="-122"/>
              </a:rPr>
              <a:t>思源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919262" y="2182803"/>
            <a:ext cx="2566359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ea typeface="思源宋体 Bold" panose="02020700000000000000" charset="-122"/>
              </a:rPr>
              <a:t>爱国</a:t>
            </a:r>
          </a:p>
        </p:txBody>
      </p:sp>
      <p:sp>
        <p:nvSpPr>
          <p:cNvPr id="27" name="Freeform 27"/>
          <p:cNvSpPr/>
          <p:nvPr/>
        </p:nvSpPr>
        <p:spPr>
          <a:xfrm>
            <a:off x="8538038" y="7756852"/>
            <a:ext cx="452120" cy="452120"/>
          </a:xfrm>
          <a:custGeom>
            <a:avLst/>
            <a:gdLst/>
            <a:ahLst/>
            <a:cxnLst/>
            <a:rect l="l" t="t" r="r" b="b"/>
            <a:pathLst>
              <a:path w="452120" h="452120">
                <a:moveTo>
                  <a:pt x="0" y="0"/>
                </a:moveTo>
                <a:lnTo>
                  <a:pt x="452120" y="0"/>
                </a:lnTo>
                <a:lnTo>
                  <a:pt x="452120" y="452120"/>
                </a:lnTo>
                <a:lnTo>
                  <a:pt x="0" y="452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3025147" y="7756852"/>
            <a:ext cx="452120" cy="452120"/>
          </a:xfrm>
          <a:custGeom>
            <a:avLst/>
            <a:gdLst/>
            <a:ahLst/>
            <a:cxnLst/>
            <a:rect l="l" t="t" r="r" b="b"/>
            <a:pathLst>
              <a:path w="452120" h="452120">
                <a:moveTo>
                  <a:pt x="0" y="0"/>
                </a:moveTo>
                <a:lnTo>
                  <a:pt x="452120" y="0"/>
                </a:lnTo>
                <a:lnTo>
                  <a:pt x="452120" y="452120"/>
                </a:lnTo>
                <a:lnTo>
                  <a:pt x="0" y="4521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2576469" y="2182803"/>
            <a:ext cx="2566359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ea typeface="思源宋体 Bold" panose="02020700000000000000" charset="-122"/>
              </a:rPr>
              <a:t>荣校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990158" y="7709227"/>
            <a:ext cx="3350172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dirty="0" err="1">
                <a:solidFill>
                  <a:srgbClr val="000000"/>
                </a:solidFill>
                <a:ea typeface="思源宋体 Bold" panose="02020700000000000000" charset="-122"/>
              </a:rPr>
              <a:t>姓名</a:t>
            </a:r>
            <a:r>
              <a:rPr lang="en-US" sz="2800" dirty="0">
                <a:solidFill>
                  <a:srgbClr val="000000"/>
                </a:solidFill>
                <a:ea typeface="思源宋体 Bold" panose="02020700000000000000" charset="-122"/>
              </a:rPr>
              <a:t>：</a:t>
            </a:r>
            <a:r>
              <a:rPr lang="zh-CN" altLang="en-US" sz="2800" dirty="0">
                <a:solidFill>
                  <a:srgbClr val="000000"/>
                </a:solidFill>
                <a:ea typeface="思源宋体 Bold" panose="02020700000000000000" charset="-122"/>
              </a:rPr>
              <a:t>刘金光</a:t>
            </a:r>
            <a:endParaRPr lang="en-US" sz="2800" dirty="0">
              <a:solidFill>
                <a:srgbClr val="000000"/>
              </a:solidFill>
              <a:ea typeface="思源宋体 Bold" panose="02020700000000000000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3477267" y="7709227"/>
            <a:ext cx="3350172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dirty="0" err="1">
                <a:solidFill>
                  <a:srgbClr val="000000"/>
                </a:solidFill>
                <a:ea typeface="思源宋体 Bold" panose="02020700000000000000" charset="-122"/>
              </a:rPr>
              <a:t>导师</a:t>
            </a:r>
            <a:r>
              <a:rPr lang="en-US" sz="2800" dirty="0">
                <a:solidFill>
                  <a:srgbClr val="000000"/>
                </a:solidFill>
                <a:ea typeface="思源宋体 Bold" panose="02020700000000000000" charset="-122"/>
              </a:rPr>
              <a:t>：</a:t>
            </a:r>
            <a:r>
              <a:rPr lang="zh-CN" altLang="en-US" sz="2800" dirty="0">
                <a:solidFill>
                  <a:srgbClr val="000000"/>
                </a:solidFill>
                <a:ea typeface="思源宋体 Bold" panose="02020700000000000000" charset="-122"/>
              </a:rPr>
              <a:t>尹传环</a:t>
            </a:r>
            <a:endParaRPr lang="en-US" sz="2800" dirty="0">
              <a:solidFill>
                <a:srgbClr val="000000"/>
              </a:solidFill>
              <a:ea typeface="思源宋体 Bold" panose="02020700000000000000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076361" y="3112310"/>
            <a:ext cx="6444164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zh-CN" altLang="en-US" sz="7000" dirty="0">
                <a:solidFill>
                  <a:srgbClr val="000000"/>
                </a:solidFill>
                <a:ea typeface="思源黑体 2 Bold" panose="020B0800000000000000" charset="-122"/>
              </a:rPr>
              <a:t>中期考核报告</a:t>
            </a:r>
            <a:endParaRPr lang="en-US" sz="7000" dirty="0">
              <a:solidFill>
                <a:srgbClr val="000000"/>
              </a:solidFill>
              <a:ea typeface="思源黑体 2 Bold" panose="020B0800000000000000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7405236" y="4721354"/>
            <a:ext cx="10882764" cy="1101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zh-CN" altLang="en-US" sz="4800" dirty="0">
                <a:solidFill>
                  <a:srgbClr val="000000"/>
                </a:solidFill>
                <a:ea typeface="思源黑体 2 Bold" panose="020B0800000000000000" charset="-122"/>
              </a:rPr>
              <a:t>基于嵌入式系统的任务调度算法研究</a:t>
            </a:r>
            <a:endParaRPr lang="en-US" sz="4800" dirty="0">
              <a:solidFill>
                <a:srgbClr val="000000"/>
              </a:solidFill>
              <a:latin typeface="思源黑体 2 Bold" panose="020B0800000000000000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6541297" y="6227772"/>
            <a:ext cx="11028751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 dirty="0">
                <a:solidFill>
                  <a:srgbClr val="000000"/>
                </a:solidFill>
                <a:latin typeface="思源宋体 Bold" panose="02020700000000000000" charset="-122"/>
              </a:rPr>
              <a:t>BJTU(BEIJING JIAOTONG UNIVERSITY)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11552" y="737504"/>
            <a:ext cx="526353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 err="1">
                <a:solidFill>
                  <a:srgbClr val="FFFFFF"/>
                </a:solidFill>
                <a:ea typeface="思源宋体 Bold" panose="02020700000000000000" charset="-122"/>
              </a:rPr>
              <a:t>北京交通大学</a:t>
            </a:r>
            <a:endParaRPr lang="en-US" sz="3000" dirty="0">
              <a:solidFill>
                <a:srgbClr val="FFFFFF"/>
              </a:solidFill>
              <a:ea typeface="思源宋体 Bold" panose="02020700000000000000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3543234" y="733425"/>
            <a:ext cx="526353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C000"/>
                </a:solidFill>
                <a:latin typeface="思源黑体 2 Bold" panose="020B0800000000000000" charset="-122"/>
              </a:rPr>
              <a:t>BJTU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70155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solidFill>
              <a:srgbClr val="FFC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4732606" y="1095940"/>
            <a:ext cx="12687300" cy="8025495"/>
            <a:chOff x="0" y="0"/>
            <a:chExt cx="16916400" cy="107006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916400" cy="10700639"/>
            </a:xfrm>
            <a:custGeom>
              <a:avLst/>
              <a:gdLst/>
              <a:ahLst/>
              <a:cxnLst/>
              <a:rect l="l" t="t" r="r" b="b"/>
              <a:pathLst>
                <a:path w="16916400" h="10700639">
                  <a:moveTo>
                    <a:pt x="0" y="0"/>
                  </a:moveTo>
                  <a:lnTo>
                    <a:pt x="16916400" y="0"/>
                  </a:lnTo>
                  <a:lnTo>
                    <a:pt x="16916400" y="10700639"/>
                  </a:lnTo>
                  <a:lnTo>
                    <a:pt x="0" y="10700639"/>
                  </a:lnTo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177371" y="2160348"/>
            <a:ext cx="4285759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zh-CN" altLang="en-US" sz="4200" dirty="0">
                <a:solidFill>
                  <a:srgbClr val="1D1818"/>
                </a:solidFill>
                <a:ea typeface="思源黑体-超粗体 Heavy"/>
              </a:rPr>
              <a:t>研究背景</a:t>
            </a:r>
            <a:endParaRPr lang="en-US" sz="4200" dirty="0">
              <a:solidFill>
                <a:srgbClr val="1D1818"/>
              </a:solidFill>
              <a:ea typeface="思源黑体-超粗体 Heavy"/>
            </a:endParaRPr>
          </a:p>
        </p:txBody>
      </p:sp>
      <p:sp>
        <p:nvSpPr>
          <p:cNvPr id="7" name="Freeform 7"/>
          <p:cNvSpPr/>
          <p:nvPr/>
        </p:nvSpPr>
        <p:spPr>
          <a:xfrm rot="-10800000">
            <a:off x="-170180" y="4838700"/>
            <a:ext cx="7909560" cy="5494020"/>
          </a:xfrm>
          <a:custGeom>
            <a:avLst/>
            <a:gdLst/>
            <a:ahLst/>
            <a:cxnLst/>
            <a:rect l="l" t="t" r="r" b="b"/>
            <a:pathLst>
              <a:path w="13613616" h="8348662">
                <a:moveTo>
                  <a:pt x="0" y="0"/>
                </a:moveTo>
                <a:lnTo>
                  <a:pt x="13613616" y="0"/>
                </a:lnTo>
                <a:lnTo>
                  <a:pt x="13613616" y="8348663"/>
                </a:lnTo>
                <a:lnTo>
                  <a:pt x="0" y="83486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2000"/>
            </a:blip>
            <a:stretch>
              <a:fillRect t="-5033" b="-3607"/>
            </a:stretch>
          </a:blipFill>
        </p:spPr>
        <p:txBody>
          <a:bodyPr/>
          <a:lstStyle/>
          <a:p>
            <a:endParaRPr lang="zh-CN" alt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6163856" y="2734862"/>
            <a:ext cx="6352554" cy="30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1650" dirty="0">
                <a:solidFill>
                  <a:srgbClr val="1D1818"/>
                </a:solidFill>
                <a:ea typeface="思源黑体 3" panose="020B0500000000000000" charset="-122"/>
              </a:rPr>
              <a:t>  </a:t>
            </a:r>
          </a:p>
        </p:txBody>
      </p:sp>
      <p:sp>
        <p:nvSpPr>
          <p:cNvPr id="9" name="AutoShape 9"/>
          <p:cNvSpPr/>
          <p:nvPr/>
        </p:nvSpPr>
        <p:spPr>
          <a:xfrm>
            <a:off x="11354177" y="2992368"/>
            <a:ext cx="4531419" cy="9525"/>
          </a:xfrm>
          <a:prstGeom prst="line">
            <a:avLst/>
          </a:prstGeom>
          <a:ln w="9525" cap="rnd">
            <a:solidFill>
              <a:srgbClr val="1D181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1354177" y="4386749"/>
            <a:ext cx="4531419" cy="9525"/>
          </a:xfrm>
          <a:prstGeom prst="line">
            <a:avLst/>
          </a:prstGeom>
          <a:ln w="9525" cap="rnd">
            <a:solidFill>
              <a:srgbClr val="1D181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1354177" y="7344327"/>
            <a:ext cx="4531419" cy="9525"/>
          </a:xfrm>
          <a:prstGeom prst="line">
            <a:avLst/>
          </a:prstGeom>
          <a:ln w="9525" cap="rnd">
            <a:solidFill>
              <a:srgbClr val="1D181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1354177" y="5907744"/>
            <a:ext cx="4531419" cy="9525"/>
          </a:xfrm>
          <a:prstGeom prst="line">
            <a:avLst/>
          </a:prstGeom>
          <a:ln w="9525" cap="rnd">
            <a:solidFill>
              <a:srgbClr val="1D181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 rot="5400000">
            <a:off x="825256" y="3785144"/>
            <a:ext cx="6315623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en-US" sz="7200" dirty="0">
                <a:solidFill>
                  <a:srgbClr val="000000"/>
                </a:solidFill>
                <a:latin typeface="Montserrat Ultra-Bold" panose="00000900000000000000"/>
              </a:rPr>
              <a:t>CONTENTS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172055" y="3578824"/>
            <a:ext cx="4406064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zh-CN" altLang="en-US" sz="4200" dirty="0">
                <a:solidFill>
                  <a:srgbClr val="1D1818"/>
                </a:solidFill>
                <a:ea typeface="思源黑体-超粗体 Heavy"/>
              </a:rPr>
              <a:t>存在问题</a:t>
            </a:r>
            <a:endParaRPr lang="en-US" sz="4200" dirty="0">
              <a:solidFill>
                <a:srgbClr val="1D1818"/>
              </a:solidFill>
              <a:ea typeface="思源黑体-超粗体 Heavy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163856" y="4151550"/>
            <a:ext cx="6352554" cy="30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  <a:r>
              <a:rPr lang="en-US" sz="1650" dirty="0">
                <a:solidFill>
                  <a:srgbClr val="696969"/>
                </a:solidFill>
                <a:ea typeface="思源黑体 3" panose="020B0500000000000000" charset="-122"/>
              </a:rPr>
              <a:t> </a:t>
            </a:r>
            <a:r>
              <a:rPr lang="zh-CN" altLang="en-US" sz="1650" dirty="0">
                <a:solidFill>
                  <a:srgbClr val="696969"/>
                </a:solidFill>
                <a:ea typeface="思源黑体 3" panose="020B0500000000000000" charset="-122"/>
              </a:rPr>
              <a:t> </a:t>
            </a:r>
            <a:endParaRPr lang="en-US" sz="1650" dirty="0">
              <a:solidFill>
                <a:srgbClr val="696969"/>
              </a:solidFill>
              <a:ea typeface="思源黑体 3" panose="020B05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163856" y="6489500"/>
            <a:ext cx="4406064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zh-CN" altLang="en-US" sz="4200" dirty="0">
                <a:solidFill>
                  <a:srgbClr val="000000"/>
                </a:solidFill>
                <a:ea typeface="思源黑体-超粗体 Heavy"/>
              </a:rPr>
              <a:t>目前进展</a:t>
            </a:r>
            <a:endParaRPr lang="en-US" sz="4200" dirty="0">
              <a:solidFill>
                <a:srgbClr val="000000"/>
              </a:solidFill>
              <a:ea typeface="思源黑体-超粗体 Heavy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163856" y="7083438"/>
            <a:ext cx="6352554" cy="30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  <a:r>
              <a:rPr lang="zh-CN" altLang="en-US" sz="1650" dirty="0">
                <a:solidFill>
                  <a:srgbClr val="696969"/>
                </a:solidFill>
                <a:ea typeface="思源黑体 3" panose="020B0500000000000000" charset="-122"/>
              </a:rPr>
              <a:t>  </a:t>
            </a:r>
            <a:endParaRPr lang="en-US" sz="1650" dirty="0">
              <a:solidFill>
                <a:srgbClr val="696969"/>
              </a:solidFill>
              <a:ea typeface="思源黑体 3" panose="020B05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786542" y="6625968"/>
            <a:ext cx="1202115" cy="714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 dirty="0">
                <a:solidFill>
                  <a:srgbClr val="000000"/>
                </a:solidFill>
                <a:latin typeface="Montserrat Heavy" panose="00000A00000000000000"/>
              </a:rPr>
              <a:t>04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163856" y="4995513"/>
            <a:ext cx="4406064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zh-CN" altLang="en-US" sz="4200" dirty="0">
                <a:solidFill>
                  <a:srgbClr val="1D1818"/>
                </a:solidFill>
                <a:ea typeface="思源黑体-超粗体 Heavy"/>
              </a:rPr>
              <a:t>解决思路</a:t>
            </a:r>
            <a:endParaRPr lang="en-US" sz="4200" dirty="0">
              <a:solidFill>
                <a:srgbClr val="1D1818"/>
              </a:solidFill>
              <a:ea typeface="思源黑体-超粗体 Heavy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163856" y="5645538"/>
            <a:ext cx="6352554" cy="305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  <a:r>
              <a:rPr lang="zh-CN" altLang="en-US" sz="1650" dirty="0">
                <a:solidFill>
                  <a:srgbClr val="696969"/>
                </a:solidFill>
                <a:ea typeface="思源黑体 3" panose="020B0500000000000000" charset="-122"/>
              </a:rPr>
              <a:t>  </a:t>
            </a:r>
            <a:endParaRPr lang="en-US" sz="1650" dirty="0">
              <a:solidFill>
                <a:srgbClr val="696969"/>
              </a:solidFill>
              <a:ea typeface="思源黑体 3" panose="020B05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 rot="5400000">
            <a:off x="1846275" y="1725397"/>
            <a:ext cx="2425035" cy="1324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690"/>
              </a:lnSpc>
            </a:pPr>
            <a:r>
              <a:rPr lang="en-US" sz="8100" dirty="0" err="1">
                <a:solidFill>
                  <a:srgbClr val="1D1818"/>
                </a:solidFill>
                <a:ea typeface="思源黑体-超粗体 Heavy"/>
              </a:rPr>
              <a:t>目录</a:t>
            </a:r>
            <a:endParaRPr lang="en-US" sz="8100" dirty="0">
              <a:solidFill>
                <a:srgbClr val="1D1818"/>
              </a:solidFill>
              <a:ea typeface="思源黑体-超粗体 Heavy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340133" y="2391962"/>
            <a:ext cx="380711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575" dirty="0">
                <a:solidFill>
                  <a:srgbClr val="FFC000"/>
                </a:solidFill>
                <a:latin typeface="Montserrat Bold" panose="00000800000000000000"/>
              </a:rPr>
              <a:t> 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786542" y="2132353"/>
            <a:ext cx="1202115" cy="714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>
                <a:solidFill>
                  <a:srgbClr val="000000"/>
                </a:solidFill>
                <a:latin typeface="Montserrat Ultra-Bold" panose="00000900000000000000"/>
              </a:rPr>
              <a:t>01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20118" y="3744180"/>
            <a:ext cx="3557518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575" dirty="0">
                <a:solidFill>
                  <a:srgbClr val="FFC000"/>
                </a:solidFill>
                <a:latin typeface="Montserrat Heavy" panose="00000A00000000000000"/>
              </a:rPr>
              <a:t> 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786542" y="3630227"/>
            <a:ext cx="1202115" cy="714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>
                <a:solidFill>
                  <a:srgbClr val="000000"/>
                </a:solidFill>
                <a:latin typeface="Montserrat Ultra-Bold" panose="00000900000000000000"/>
              </a:rPr>
              <a:t>02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411919" y="6654855"/>
            <a:ext cx="3557518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575" dirty="0">
                <a:solidFill>
                  <a:srgbClr val="FFC000"/>
                </a:solidFill>
                <a:latin typeface="Montserrat Heavy" panose="00000A00000000000000"/>
              </a:rPr>
              <a:t> 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411919" y="5167974"/>
            <a:ext cx="4207968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0"/>
              </a:lnSpc>
            </a:pPr>
            <a:r>
              <a:rPr lang="en-US" sz="1575" dirty="0">
                <a:solidFill>
                  <a:srgbClr val="FFC000"/>
                </a:solidFill>
                <a:latin typeface="Montserrat Heavy" panose="00000A00000000000000"/>
              </a:rPr>
              <a:t>  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786542" y="5128099"/>
            <a:ext cx="1202115" cy="714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en-US" sz="4800">
                <a:solidFill>
                  <a:srgbClr val="000000"/>
                </a:solidFill>
                <a:latin typeface="Montserrat Ultra-Bold" panose="00000900000000000000"/>
              </a:rPr>
              <a:t>03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5D3E4821-C5C8-95AA-DD92-F2D7FC4A0C55}"/>
              </a:ext>
            </a:extLst>
          </p:cNvPr>
          <p:cNvSpPr txBox="1"/>
          <p:nvPr/>
        </p:nvSpPr>
        <p:spPr>
          <a:xfrm>
            <a:off x="6172054" y="8056824"/>
            <a:ext cx="365774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000000"/>
                </a:solidFill>
                <a:ea typeface="思源黑体-超粗体 Heavy"/>
              </a:rPr>
              <a:t>以后计划</a:t>
            </a:r>
            <a:endParaRPr lang="en-US" altLang="zh-CN" sz="4000" dirty="0">
              <a:solidFill>
                <a:srgbClr val="000000"/>
              </a:solidFill>
              <a:ea typeface="思源黑体-超粗体 Heavy"/>
            </a:endParaRPr>
          </a:p>
          <a:p>
            <a:endParaRPr lang="en-US" altLang="zh-CN" sz="4000" dirty="0">
              <a:solidFill>
                <a:srgbClr val="000000"/>
              </a:solidFill>
              <a:ea typeface="思源黑体-超粗体 Heavy"/>
            </a:endParaRPr>
          </a:p>
          <a:p>
            <a:endParaRPr lang="zh-CN" altLang="en-US" dirty="0"/>
          </a:p>
        </p:txBody>
      </p:sp>
      <p:sp>
        <p:nvSpPr>
          <p:cNvPr id="32" name="AutoShape 11">
            <a:extLst>
              <a:ext uri="{FF2B5EF4-FFF2-40B4-BE49-F238E27FC236}">
                <a16:creationId xmlns:a16="http://schemas.microsoft.com/office/drawing/2014/main" id="{D82C4837-BFAE-8BAD-F587-D22B8722DA8C}"/>
              </a:ext>
            </a:extLst>
          </p:cNvPr>
          <p:cNvSpPr/>
          <p:nvPr/>
        </p:nvSpPr>
        <p:spPr>
          <a:xfrm>
            <a:off x="11354177" y="8887820"/>
            <a:ext cx="4531419" cy="9525"/>
          </a:xfrm>
          <a:prstGeom prst="line">
            <a:avLst/>
          </a:prstGeom>
          <a:ln w="9525" cap="rnd">
            <a:solidFill>
              <a:srgbClr val="1D181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3DC00F1-AEC4-F88E-BA56-5A049B6644A9}"/>
              </a:ext>
            </a:extLst>
          </p:cNvPr>
          <p:cNvSpPr txBox="1"/>
          <p:nvPr/>
        </p:nvSpPr>
        <p:spPr>
          <a:xfrm>
            <a:off x="14786541" y="8043562"/>
            <a:ext cx="120211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solidFill>
                  <a:srgbClr val="000000"/>
                </a:solidFill>
                <a:latin typeface="Montserrat Heavy" panose="00000A00000000000000"/>
              </a:rPr>
              <a:t>05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5644432" y="3681890"/>
            <a:ext cx="12643568" cy="6605110"/>
          </a:xfrm>
          <a:custGeom>
            <a:avLst/>
            <a:gdLst/>
            <a:ahLst/>
            <a:cxnLst/>
            <a:rect l="l" t="t" r="r" b="b"/>
            <a:pathLst>
              <a:path w="12643568" h="6605110">
                <a:moveTo>
                  <a:pt x="0" y="0"/>
                </a:moveTo>
                <a:lnTo>
                  <a:pt x="12643568" y="0"/>
                </a:lnTo>
                <a:lnTo>
                  <a:pt x="12643568" y="6605110"/>
                </a:lnTo>
                <a:lnTo>
                  <a:pt x="0" y="6605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t="-88799" r="-87129" b="-49855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215662" y="2348630"/>
            <a:ext cx="14656898" cy="5599136"/>
            <a:chOff x="0" y="0"/>
            <a:chExt cx="19542530" cy="74655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542506" cy="7465568"/>
            </a:xfrm>
            <a:custGeom>
              <a:avLst/>
              <a:gdLst/>
              <a:ahLst/>
              <a:cxnLst/>
              <a:rect l="l" t="t" r="r" b="b"/>
              <a:pathLst>
                <a:path w="19542506" h="7465568">
                  <a:moveTo>
                    <a:pt x="0" y="0"/>
                  </a:moveTo>
                  <a:lnTo>
                    <a:pt x="19542506" y="0"/>
                  </a:lnTo>
                  <a:lnTo>
                    <a:pt x="19542506" y="7465568"/>
                  </a:lnTo>
                  <a:lnTo>
                    <a:pt x="0" y="7465568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zh-CN" altLang="en-US" dirty="0">
                  <a:solidFill>
                    <a:srgbClr val="696969"/>
                  </a:solidFill>
                  <a:ea typeface="思源黑体 3" panose="020B0500000000000000" charset="-122"/>
                </a:rPr>
                <a:t>。</a:t>
              </a:r>
              <a:endParaRPr lang="zh-CN" altLang="en-US" dirty="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053370" y="3365571"/>
            <a:ext cx="3470266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dirty="0">
                <a:solidFill>
                  <a:srgbClr val="000000"/>
                </a:solidFill>
                <a:latin typeface="Montserrat Ultra-Bold" panose="00000900000000000000"/>
              </a:rPr>
              <a:t>PART 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71531" y="4964650"/>
            <a:ext cx="7285742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zh-CN" altLang="en-US" sz="2700" dirty="0">
                <a:solidFill>
                  <a:srgbClr val="FFC000"/>
                </a:solidFill>
                <a:latin typeface="Montserrat Ultra-Bold" panose="00000900000000000000"/>
              </a:rPr>
              <a:t>基于嵌入式系统的任务调度算法研究</a:t>
            </a:r>
            <a:endParaRPr lang="en-US" sz="2700" dirty="0">
              <a:solidFill>
                <a:srgbClr val="FFC000"/>
              </a:solidFill>
              <a:latin typeface="Montserrat Ultra-Bold" panose="0000090000000000000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371531" y="5602278"/>
            <a:ext cx="7589586" cy="1407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2000" dirty="0" smtClean="0">
                <a:solidFill>
                  <a:srgbClr val="696969"/>
                </a:solidFill>
                <a:ea typeface="思源黑体 3" panose="020B0500000000000000" charset="-122"/>
              </a:rPr>
              <a:t>任务</a:t>
            </a:r>
            <a:r>
              <a:rPr lang="zh-CN" altLang="en-US" sz="2000" dirty="0">
                <a:solidFill>
                  <a:srgbClr val="696969"/>
                </a:solidFill>
                <a:ea typeface="思源黑体 3" panose="020B0500000000000000" charset="-122"/>
              </a:rPr>
              <a:t>调度是操作系统核心功能。本文聚焦于操作系统设计和实现、通用系统调度算法。</a:t>
            </a:r>
            <a:r>
              <a:rPr lang="zh-CN" altLang="en-US" sz="2000" dirty="0" smtClean="0">
                <a:solidFill>
                  <a:srgbClr val="696969"/>
                </a:solidFill>
                <a:ea typeface="思源黑体 3" panose="020B0500000000000000" charset="-122"/>
              </a:rPr>
              <a:t>探讨</a:t>
            </a:r>
            <a:r>
              <a:rPr lang="zh-CN" altLang="en-US" sz="2000" dirty="0">
                <a:solidFill>
                  <a:srgbClr val="696969"/>
                </a:solidFill>
                <a:ea typeface="思源黑体 3" panose="020B0500000000000000" charset="-122"/>
              </a:rPr>
              <a:t>神经网络</a:t>
            </a:r>
            <a:r>
              <a:rPr lang="zh-CN" altLang="en-US" sz="2000" dirty="0" smtClean="0">
                <a:solidFill>
                  <a:srgbClr val="696969"/>
                </a:solidFill>
                <a:ea typeface="思源黑体 3" panose="020B0500000000000000" charset="-122"/>
              </a:rPr>
              <a:t>下</a:t>
            </a:r>
            <a:r>
              <a:rPr lang="zh-CN" altLang="en-US" sz="2000" dirty="0">
                <a:solidFill>
                  <a:srgbClr val="696969"/>
                </a:solidFill>
                <a:ea typeface="思源黑体 3" panose="020B0500000000000000" charset="-122"/>
              </a:rPr>
              <a:t>的任务调度预测</a:t>
            </a:r>
            <a:r>
              <a:rPr lang="zh-CN" altLang="en-US" sz="2000" dirty="0" smtClean="0">
                <a:solidFill>
                  <a:srgbClr val="696969"/>
                </a:solidFill>
                <a:ea typeface="思源黑体 3" panose="020B0500000000000000" charset="-122"/>
              </a:rPr>
              <a:t>、</a:t>
            </a:r>
            <a:r>
              <a:rPr lang="zh-CN" altLang="en-US" sz="2000" dirty="0">
                <a:solidFill>
                  <a:srgbClr val="696969"/>
                </a:solidFill>
                <a:ea typeface="思源黑体 3" panose="020B0500000000000000" charset="-122"/>
              </a:rPr>
              <a:t>神经网络</a:t>
            </a:r>
            <a:r>
              <a:rPr lang="zh-CN" altLang="en-US" sz="2000" dirty="0" smtClean="0">
                <a:solidFill>
                  <a:srgbClr val="696969"/>
                </a:solidFill>
                <a:ea typeface="思源黑体 3" panose="020B0500000000000000" charset="-122"/>
              </a:rPr>
              <a:t>和</a:t>
            </a:r>
            <a:r>
              <a:rPr lang="zh-CN" altLang="en-US" sz="2000" dirty="0">
                <a:solidFill>
                  <a:srgbClr val="696969"/>
                </a:solidFill>
                <a:ea typeface="思源黑体 3" panose="020B0500000000000000" charset="-122"/>
              </a:rPr>
              <a:t>任务调度融合改进。</a:t>
            </a:r>
            <a:endParaRPr lang="en-US" altLang="zh-CN" sz="2000" dirty="0">
              <a:solidFill>
                <a:srgbClr val="696969"/>
              </a:solidFill>
              <a:ea typeface="思源黑体 3" panose="020B0500000000000000" charset="-122"/>
            </a:endParaRPr>
          </a:p>
          <a:p>
            <a:pPr algn="l">
              <a:lnSpc>
                <a:spcPts val="2810"/>
              </a:lnSpc>
            </a:pPr>
            <a:endParaRPr lang="en-US" sz="1800" dirty="0">
              <a:solidFill>
                <a:srgbClr val="696969"/>
              </a:solidFill>
              <a:ea typeface="思源黑体 3" panose="020B05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371531" y="3672365"/>
            <a:ext cx="7285742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zh-CN" altLang="en-US" sz="8100" dirty="0">
                <a:solidFill>
                  <a:srgbClr val="1D1818"/>
                </a:solidFill>
                <a:ea typeface="思源黑体-超粗体 Heavy"/>
              </a:rPr>
              <a:t>研究背景</a:t>
            </a:r>
            <a:endParaRPr lang="en-US" sz="8100" dirty="0">
              <a:solidFill>
                <a:srgbClr val="1D1818"/>
              </a:solidFill>
              <a:ea typeface="思源黑体-超粗体 Heavy"/>
            </a:endParaRPr>
          </a:p>
        </p:txBody>
      </p:sp>
      <p:sp>
        <p:nvSpPr>
          <p:cNvPr id="12" name="Freeform 8"/>
          <p:cNvSpPr/>
          <p:nvPr/>
        </p:nvSpPr>
        <p:spPr>
          <a:xfrm flipH="1">
            <a:off x="-2326380" y="1701856"/>
            <a:ext cx="8253274" cy="8585144"/>
          </a:xfrm>
          <a:custGeom>
            <a:avLst/>
            <a:gdLst/>
            <a:ahLst/>
            <a:cxnLst/>
            <a:rect l="l" t="t" r="r" b="b"/>
            <a:pathLst>
              <a:path w="8253274" h="8585144">
                <a:moveTo>
                  <a:pt x="8253273" y="0"/>
                </a:moveTo>
                <a:lnTo>
                  <a:pt x="0" y="0"/>
                </a:lnTo>
                <a:lnTo>
                  <a:pt x="0" y="8585144"/>
                </a:lnTo>
                <a:lnTo>
                  <a:pt x="8253273" y="8585144"/>
                </a:lnTo>
                <a:lnTo>
                  <a:pt x="8253273" y="0"/>
                </a:lnTo>
                <a:close/>
              </a:path>
            </a:pathLst>
          </a:custGeom>
          <a:blipFill>
            <a:blip r:embed="rId3"/>
            <a:stretch>
              <a:fillRect l="-27868" r="-27868"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D32AE-85B3-C6A3-F1F4-4C6412D0F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74F0AD2-104B-A355-48E7-7767273DC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274638"/>
            <a:ext cx="8229600" cy="1143000"/>
          </a:xfrm>
        </p:spPr>
        <p:txBody>
          <a:bodyPr/>
          <a:lstStyle/>
          <a:p>
            <a:pPr algn="ctr"/>
            <a:r>
              <a:rPr lang="zh-CN" altLang="en-US" dirty="0"/>
              <a:t>研究背景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EB39C5F-E6AD-1A9B-4F5E-E09FC31C0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81300"/>
            <a:ext cx="17068800" cy="6553200"/>
          </a:xfrm>
        </p:spPr>
        <p:txBody>
          <a:bodyPr>
            <a:normAutofit/>
          </a:bodyPr>
          <a:lstStyle/>
          <a:p>
            <a:pPr marL="438912" lvl="1" indent="0">
              <a:buNone/>
            </a:pPr>
            <a:endParaRPr lang="en-US" altLang="zh-CN" dirty="0"/>
          </a:p>
          <a:p>
            <a:pPr marL="438912" lvl="1" indent="0">
              <a:buNone/>
            </a:pPr>
            <a:r>
              <a:rPr lang="zh-CN" altLang="en-US" dirty="0" smtClean="0"/>
              <a:t>几种主流的任务调度方法：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通用调度算法</a:t>
            </a:r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/>
              <a:t>先来先服务（</a:t>
            </a:r>
            <a:r>
              <a:rPr lang="en-US" altLang="zh-CN" dirty="0"/>
              <a:t>FCFS</a:t>
            </a:r>
            <a:r>
              <a:rPr lang="zh-CN" altLang="en-US" dirty="0"/>
              <a:t>）、短作业优先（</a:t>
            </a:r>
            <a:r>
              <a:rPr lang="en-US" altLang="zh-CN" dirty="0"/>
              <a:t>SJF</a:t>
            </a:r>
            <a:r>
              <a:rPr lang="zh-CN" altLang="en-US" dirty="0"/>
              <a:t>）、轮转调度（</a:t>
            </a:r>
            <a:r>
              <a:rPr lang="en-US" altLang="zh-CN" dirty="0"/>
              <a:t>RR</a:t>
            </a:r>
            <a:r>
              <a:rPr lang="zh-CN" altLang="en-US" dirty="0"/>
              <a:t>）、多级反馈队列（</a:t>
            </a:r>
            <a:r>
              <a:rPr lang="en-US" altLang="zh-CN" dirty="0"/>
              <a:t>MLFQ</a:t>
            </a:r>
            <a:r>
              <a:rPr lang="zh-CN" altLang="en-US" dirty="0"/>
              <a:t>）的演进。</a:t>
            </a:r>
          </a:p>
          <a:p>
            <a:pPr marL="953262" lvl="1" indent="-514350">
              <a:buFont typeface="+mj-lt"/>
              <a:buAutoNum type="alphaLcParenR"/>
            </a:pPr>
            <a:r>
              <a:rPr lang="en-US" altLang="zh-CN" dirty="0"/>
              <a:t>Linux </a:t>
            </a:r>
            <a:r>
              <a:rPr lang="zh-CN" altLang="en-US" dirty="0"/>
              <a:t>内核从</a:t>
            </a:r>
            <a:r>
              <a:rPr lang="en-US" altLang="zh-CN" dirty="0"/>
              <a:t>2.6.23 </a:t>
            </a:r>
            <a:r>
              <a:rPr lang="zh-CN" altLang="en-US" dirty="0"/>
              <a:t>版本引入完全公平调度器（</a:t>
            </a:r>
            <a:r>
              <a:rPr lang="en-US" altLang="zh-CN" dirty="0"/>
              <a:t>CFS</a:t>
            </a:r>
            <a:r>
              <a:rPr lang="zh-CN" altLang="en-US" dirty="0"/>
              <a:t>），以 </a:t>
            </a:r>
            <a:r>
              <a:rPr lang="en-US" altLang="zh-CN" dirty="0" err="1"/>
              <a:t>vruntime</a:t>
            </a:r>
            <a:r>
              <a:rPr lang="en-US" altLang="zh-CN" dirty="0"/>
              <a:t> </a:t>
            </a:r>
            <a:r>
              <a:rPr lang="zh-CN" altLang="en-US" dirty="0"/>
              <a:t>为核心实现加权公平调度。</a:t>
            </a:r>
          </a:p>
          <a:p>
            <a:pPr marL="953262" lvl="1" indent="-514350">
              <a:buFont typeface="+mj-lt"/>
              <a:buAutoNum type="alphaLcParenR"/>
            </a:pPr>
            <a:r>
              <a:rPr lang="en-US" altLang="zh-CN" dirty="0"/>
              <a:t>Windows </a:t>
            </a:r>
            <a:r>
              <a:rPr lang="zh-CN" altLang="en-US" dirty="0"/>
              <a:t>采用基于优先级的抢占式调度。</a:t>
            </a:r>
          </a:p>
          <a:p>
            <a:pPr marL="514350" indent="-514350">
              <a:buFont typeface="+mj-lt"/>
              <a:buAutoNum type="arabicPeriod"/>
            </a:pPr>
            <a:endParaRPr lang="zh-CN" altLang="en-US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实时调度算法</a:t>
            </a:r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/>
              <a:t>速率单调调度（</a:t>
            </a:r>
            <a:r>
              <a:rPr lang="en-US" altLang="zh-CN" dirty="0"/>
              <a:t>RMS</a:t>
            </a:r>
            <a:r>
              <a:rPr lang="zh-CN" altLang="en-US" dirty="0"/>
              <a:t>）。实时系统中最经典的静态优先级调度算法。任务的周期越短（即执行频率越高），优先级越高。</a:t>
            </a:r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/>
              <a:t>最早截止期优先（</a:t>
            </a:r>
            <a:r>
              <a:rPr lang="en-US" altLang="zh-CN" dirty="0"/>
              <a:t>EDF</a:t>
            </a:r>
            <a:r>
              <a:rPr lang="zh-CN" altLang="en-US" dirty="0"/>
              <a:t>）。实时系统中最经典的动态优先级调度算法。任务的截止期越近，优先级越高。</a:t>
            </a:r>
          </a:p>
          <a:p>
            <a:pPr marL="514350" indent="-514350">
              <a:buFont typeface="+mj-lt"/>
              <a:buAutoNum type="arabicPeriod"/>
            </a:pPr>
            <a:endParaRPr lang="zh-CN" altLang="en-US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72874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F5444-78F8-23A1-FC3E-E779737D4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1026BB6-28BC-016A-DEB5-F7915452D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274638"/>
            <a:ext cx="8229600" cy="1143000"/>
          </a:xfrm>
        </p:spPr>
        <p:txBody>
          <a:bodyPr/>
          <a:lstStyle/>
          <a:p>
            <a:pPr algn="ctr"/>
            <a:r>
              <a:rPr lang="zh-CN" altLang="en-US" dirty="0"/>
              <a:t>研究背景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753EE42-0357-E4F3-A84E-E321A4FC0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81300"/>
            <a:ext cx="17068800" cy="6553200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514350" indent="-514350">
              <a:buFont typeface="+mj-lt"/>
              <a:buAutoNum type="arabicPeriod" startAt="3"/>
            </a:pPr>
            <a:r>
              <a:rPr lang="zh-CN" altLang="en-US" dirty="0" smtClean="0"/>
              <a:t>神经网络和</a:t>
            </a:r>
            <a:r>
              <a:rPr lang="zh-CN" altLang="en-US" dirty="0"/>
              <a:t>人工智能在操作系统任务调度中的</a:t>
            </a:r>
            <a:r>
              <a:rPr lang="zh-CN" altLang="en-US" dirty="0" smtClean="0"/>
              <a:t>应用</a:t>
            </a: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/>
              <a:t>性能预测。使用神经网络预测</a:t>
            </a:r>
            <a:r>
              <a:rPr lang="en-US" altLang="zh-CN" dirty="0"/>
              <a:t>I/O</a:t>
            </a:r>
            <a:r>
              <a:rPr lang="zh-CN" altLang="en-US" dirty="0"/>
              <a:t>性能、任务执行时间等，为调度决策提供前瞻性依据。 </a:t>
            </a:r>
            <a:r>
              <a:rPr lang="en-US" altLang="zh-CN" dirty="0" err="1"/>
              <a:t>KernelOracle</a:t>
            </a:r>
            <a:r>
              <a:rPr lang="en-US" altLang="zh-CN" dirty="0"/>
              <a:t> </a:t>
            </a:r>
            <a:r>
              <a:rPr lang="zh-CN" altLang="en-US" dirty="0"/>
              <a:t>使用</a:t>
            </a:r>
            <a:r>
              <a:rPr lang="zh-CN" altLang="en-US" dirty="0" smtClean="0"/>
              <a:t> </a:t>
            </a:r>
            <a:r>
              <a:rPr lang="en-US" altLang="zh-CN" dirty="0"/>
              <a:t>LSTM </a:t>
            </a:r>
            <a:r>
              <a:rPr lang="zh-CN" altLang="en-US" dirty="0"/>
              <a:t>网络来预测 </a:t>
            </a:r>
            <a:r>
              <a:rPr lang="en-US" altLang="zh-CN" dirty="0"/>
              <a:t>Linux </a:t>
            </a:r>
            <a:r>
              <a:rPr lang="zh-CN" altLang="en-US" dirty="0"/>
              <a:t>完全公平调度器（</a:t>
            </a:r>
            <a:r>
              <a:rPr lang="en-US" altLang="zh-CN" dirty="0"/>
              <a:t>CFS</a:t>
            </a:r>
            <a:r>
              <a:rPr lang="zh-CN" altLang="en-US" dirty="0"/>
              <a:t>）下一个将要被调度的</a:t>
            </a:r>
            <a:r>
              <a:rPr lang="zh-CN" altLang="en-US" dirty="0" smtClean="0"/>
              <a:t>任务。</a:t>
            </a:r>
            <a:endParaRPr lang="zh-CN" altLang="en-US" dirty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/>
              <a:t>自适应策略。强化学习通过与环境的持续交互学习最优调度策略，能够适应工作负载和环境的变化。</a:t>
            </a:r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/>
              <a:t>参数自动调优。</a:t>
            </a:r>
            <a:r>
              <a:rPr lang="en-US" altLang="zh-CN" dirty="0"/>
              <a:t>STUN</a:t>
            </a:r>
            <a:r>
              <a:rPr lang="zh-CN" altLang="en-US" dirty="0"/>
              <a:t>等系统使用</a:t>
            </a:r>
            <a:r>
              <a:rPr lang="en-US" altLang="zh-CN" dirty="0"/>
              <a:t>RL</a:t>
            </a:r>
            <a:r>
              <a:rPr lang="zh-CN" altLang="en-US" dirty="0"/>
              <a:t>自动调整</a:t>
            </a:r>
            <a:r>
              <a:rPr lang="en-US" altLang="zh-CN" dirty="0"/>
              <a:t>Linux</a:t>
            </a:r>
            <a:r>
              <a:rPr lang="zh-CN" altLang="en-US" dirty="0"/>
              <a:t>内核的调度参数，无需人工干预即可为特定工作负载优化性能。</a:t>
            </a:r>
            <a:endParaRPr lang="zh-CN" altLang="zh-CN" dirty="0"/>
          </a:p>
          <a:p>
            <a:pPr marL="953262" lvl="1" indent="-514350">
              <a:buFont typeface="+mj-lt"/>
              <a:buAutoNum type="alphaLcParenR"/>
            </a:pP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endParaRPr lang="en-US" altLang="zh-CN" dirty="0"/>
          </a:p>
          <a:p>
            <a:pPr marL="514350" indent="-514350">
              <a:buFont typeface="+mj-lt"/>
              <a:buAutoNum type="arabicPeriod" startAt="3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34418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844D0-1B4D-4EE3-9564-E453265DC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EC0705B-6CD1-90AD-34ED-A5216BBED8B5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D64E67D-2738-4957-25D4-16CAC9A840CD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2E89FCC2-51DC-B0A4-3F5F-A07B62712594}"/>
              </a:ext>
            </a:extLst>
          </p:cNvPr>
          <p:cNvSpPr/>
          <p:nvPr/>
        </p:nvSpPr>
        <p:spPr>
          <a:xfrm>
            <a:off x="5644432" y="3681890"/>
            <a:ext cx="12643568" cy="6605110"/>
          </a:xfrm>
          <a:custGeom>
            <a:avLst/>
            <a:gdLst/>
            <a:ahLst/>
            <a:cxnLst/>
            <a:rect l="l" t="t" r="r" b="b"/>
            <a:pathLst>
              <a:path w="12643568" h="6605110">
                <a:moveTo>
                  <a:pt x="0" y="0"/>
                </a:moveTo>
                <a:lnTo>
                  <a:pt x="12643568" y="0"/>
                </a:lnTo>
                <a:lnTo>
                  <a:pt x="12643568" y="6605110"/>
                </a:lnTo>
                <a:lnTo>
                  <a:pt x="0" y="6605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t="-88799" r="-87129" b="-49855"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5B38F660-694A-1C67-8D27-F405800BEE6F}"/>
              </a:ext>
            </a:extLst>
          </p:cNvPr>
          <p:cNvGrpSpPr/>
          <p:nvPr/>
        </p:nvGrpSpPr>
        <p:grpSpPr>
          <a:xfrm>
            <a:off x="2215662" y="2348630"/>
            <a:ext cx="14656898" cy="5599136"/>
            <a:chOff x="0" y="0"/>
            <a:chExt cx="19542530" cy="746551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A0C7751-6F19-3E72-100C-CE9AE1E34C61}"/>
                </a:ext>
              </a:extLst>
            </p:cNvPr>
            <p:cNvSpPr/>
            <p:nvPr/>
          </p:nvSpPr>
          <p:spPr>
            <a:xfrm>
              <a:off x="0" y="0"/>
              <a:ext cx="19542506" cy="7465568"/>
            </a:xfrm>
            <a:custGeom>
              <a:avLst/>
              <a:gdLst/>
              <a:ahLst/>
              <a:cxnLst/>
              <a:rect l="l" t="t" r="r" b="b"/>
              <a:pathLst>
                <a:path w="19542506" h="7465568">
                  <a:moveTo>
                    <a:pt x="0" y="0"/>
                  </a:moveTo>
                  <a:lnTo>
                    <a:pt x="19542506" y="0"/>
                  </a:lnTo>
                  <a:lnTo>
                    <a:pt x="19542506" y="7465568"/>
                  </a:lnTo>
                  <a:lnTo>
                    <a:pt x="0" y="7465568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zh-CN" altLang="en-US" dirty="0">
                  <a:solidFill>
                    <a:srgbClr val="696969"/>
                  </a:solidFill>
                  <a:ea typeface="思源黑体 3" panose="020B0500000000000000" charset="-122"/>
                </a:rPr>
                <a:t>。</a:t>
              </a:r>
              <a:endParaRPr lang="zh-CN" altLang="en-US" dirty="0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19D1F202-00F8-F184-EF2C-BD62DE702AB8}"/>
              </a:ext>
            </a:extLst>
          </p:cNvPr>
          <p:cNvSpPr txBox="1"/>
          <p:nvPr/>
        </p:nvSpPr>
        <p:spPr>
          <a:xfrm>
            <a:off x="3053370" y="3365571"/>
            <a:ext cx="3470266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dirty="0">
                <a:solidFill>
                  <a:srgbClr val="000000"/>
                </a:solidFill>
                <a:latin typeface="Montserrat Ultra-Bold" panose="00000900000000000000"/>
              </a:rPr>
              <a:t>PART 1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DA35B0D-716D-20C2-FA7D-8FD108D84441}"/>
              </a:ext>
            </a:extLst>
          </p:cNvPr>
          <p:cNvSpPr txBox="1"/>
          <p:nvPr/>
        </p:nvSpPr>
        <p:spPr>
          <a:xfrm>
            <a:off x="7371531" y="4964650"/>
            <a:ext cx="7285742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zh-CN" altLang="en-US" sz="2700" dirty="0">
                <a:solidFill>
                  <a:srgbClr val="FFC000"/>
                </a:solidFill>
                <a:latin typeface="Montserrat Ultra-Bold" panose="00000900000000000000"/>
              </a:rPr>
              <a:t>基于嵌入式系统的任务调度算法研究</a:t>
            </a:r>
            <a:endParaRPr lang="en-US" sz="2700" dirty="0">
              <a:solidFill>
                <a:srgbClr val="FFC000"/>
              </a:solidFill>
              <a:latin typeface="Montserrat Ultra-Bold" panose="00000900000000000000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6C91B61-339F-7AAB-F43F-C2E4EB82DB57}"/>
              </a:ext>
            </a:extLst>
          </p:cNvPr>
          <p:cNvSpPr txBox="1"/>
          <p:nvPr/>
        </p:nvSpPr>
        <p:spPr>
          <a:xfrm>
            <a:off x="7371531" y="5602278"/>
            <a:ext cx="7589586" cy="335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altLang="zh-CN" sz="2000" dirty="0">
                <a:solidFill>
                  <a:srgbClr val="696969"/>
                </a:solidFill>
                <a:ea typeface="思源黑体 3" panose="020B0500000000000000" charset="-122"/>
              </a:rPr>
              <a:t> </a:t>
            </a:r>
            <a:r>
              <a:rPr lang="zh-CN" altLang="en-US" sz="2000" dirty="0" smtClean="0">
                <a:solidFill>
                  <a:srgbClr val="696969"/>
                </a:solidFill>
                <a:ea typeface="思源黑体 3" panose="020B0500000000000000" charset="-122"/>
              </a:rPr>
              <a:t>神经网络任务调度中存在</a:t>
            </a:r>
            <a:r>
              <a:rPr lang="zh-CN" altLang="en-US" sz="2000" dirty="0">
                <a:solidFill>
                  <a:srgbClr val="696969"/>
                </a:solidFill>
                <a:ea typeface="思源黑体 3" panose="020B0500000000000000" charset="-122"/>
              </a:rPr>
              <a:t>的问题</a:t>
            </a:r>
            <a:endParaRPr lang="en-US" sz="2000" dirty="0">
              <a:solidFill>
                <a:srgbClr val="696969"/>
              </a:solidFill>
              <a:ea typeface="思源黑体 3" panose="020B0500000000000000" charset="-122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0AF3634-07C3-4ED3-F7D8-93E90678423A}"/>
              </a:ext>
            </a:extLst>
          </p:cNvPr>
          <p:cNvSpPr txBox="1"/>
          <p:nvPr/>
        </p:nvSpPr>
        <p:spPr>
          <a:xfrm>
            <a:off x="7371531" y="3672365"/>
            <a:ext cx="7285742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zh-CN" altLang="en-US" sz="8100" dirty="0">
                <a:solidFill>
                  <a:srgbClr val="1D1818"/>
                </a:solidFill>
                <a:ea typeface="思源黑体-超粗体 Heavy"/>
              </a:rPr>
              <a:t>存在问题</a:t>
            </a:r>
            <a:endParaRPr lang="en-US" sz="8100" dirty="0">
              <a:solidFill>
                <a:srgbClr val="1D1818"/>
              </a:solidFill>
              <a:ea typeface="思源黑体-超粗体 Heavy"/>
            </a:endParaRPr>
          </a:p>
        </p:txBody>
      </p:sp>
      <p:sp>
        <p:nvSpPr>
          <p:cNvPr id="12" name="Freeform 8">
            <a:extLst>
              <a:ext uri="{FF2B5EF4-FFF2-40B4-BE49-F238E27FC236}">
                <a16:creationId xmlns:a16="http://schemas.microsoft.com/office/drawing/2014/main" id="{287EA380-1100-3801-6951-42F487679BF7}"/>
              </a:ext>
            </a:extLst>
          </p:cNvPr>
          <p:cNvSpPr/>
          <p:nvPr/>
        </p:nvSpPr>
        <p:spPr>
          <a:xfrm flipH="1">
            <a:off x="-2326380" y="1701856"/>
            <a:ext cx="8253274" cy="8585144"/>
          </a:xfrm>
          <a:custGeom>
            <a:avLst/>
            <a:gdLst/>
            <a:ahLst/>
            <a:cxnLst/>
            <a:rect l="l" t="t" r="r" b="b"/>
            <a:pathLst>
              <a:path w="8253274" h="8585144">
                <a:moveTo>
                  <a:pt x="8253273" y="0"/>
                </a:moveTo>
                <a:lnTo>
                  <a:pt x="0" y="0"/>
                </a:lnTo>
                <a:lnTo>
                  <a:pt x="0" y="8585144"/>
                </a:lnTo>
                <a:lnTo>
                  <a:pt x="8253273" y="8585144"/>
                </a:lnTo>
                <a:lnTo>
                  <a:pt x="8253273" y="0"/>
                </a:lnTo>
                <a:close/>
              </a:path>
            </a:pathLst>
          </a:custGeom>
          <a:blipFill>
            <a:blip r:embed="rId3"/>
            <a:stretch>
              <a:fillRect l="-27868" r="-27868"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476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5C6A6-D9C9-5476-D57B-11FEEEDB5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8B34531-DA9E-113A-1CAE-EE59F26F4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274638"/>
            <a:ext cx="8229600" cy="1143000"/>
          </a:xfrm>
        </p:spPr>
        <p:txBody>
          <a:bodyPr/>
          <a:lstStyle/>
          <a:p>
            <a:pPr algn="ctr"/>
            <a:r>
              <a:rPr lang="zh-CN" altLang="en-US" dirty="0"/>
              <a:t>存在问题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A72E08C-DF0D-68B2-076B-082EA4397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81300"/>
            <a:ext cx="17068800" cy="65532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当前通用调度算法的局限：</a:t>
            </a: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/>
              <a:t>传统算法对各种复杂场景的适应性不足。</a:t>
            </a: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r>
              <a:rPr lang="zh-CN" altLang="zh-CN" dirty="0"/>
              <a:t>多数</a:t>
            </a:r>
            <a:r>
              <a:rPr lang="zh-CN" altLang="zh-CN" dirty="0" smtClean="0"/>
              <a:t>基于</a:t>
            </a:r>
            <a:r>
              <a:rPr lang="zh-CN" altLang="en-US" dirty="0" smtClean="0"/>
              <a:t>机器</a:t>
            </a:r>
            <a:r>
              <a:rPr lang="zh-CN" altLang="zh-CN" dirty="0" smtClean="0"/>
              <a:t>学习</a:t>
            </a:r>
            <a:r>
              <a:rPr lang="zh-CN" altLang="zh-CN" dirty="0"/>
              <a:t>的调度方法仅在仿真环境中验证，缺乏在真实操作系统内核中的实现与评估</a:t>
            </a:r>
            <a:r>
              <a:rPr lang="zh-CN" altLang="en-US" dirty="0" smtClean="0"/>
              <a:t>。基于机器学习的任务调度实际应用非常少。</a:t>
            </a: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r>
              <a:rPr lang="zh-CN" altLang="zh-CN" dirty="0"/>
              <a:t>模型开销与调度决策的实时</a:t>
            </a:r>
            <a:r>
              <a:rPr lang="zh-CN" altLang="zh-CN" dirty="0" smtClean="0"/>
              <a:t>性</a:t>
            </a:r>
            <a:r>
              <a:rPr lang="zh-CN" altLang="en-US" dirty="0" smtClean="0"/>
              <a:t>的</a:t>
            </a:r>
            <a:r>
              <a:rPr lang="zh-CN" altLang="zh-CN" dirty="0" smtClean="0"/>
              <a:t>矛盾</a:t>
            </a:r>
            <a:r>
              <a:rPr lang="zh-CN" altLang="zh-CN" dirty="0"/>
              <a:t>，</a:t>
            </a:r>
            <a:r>
              <a:rPr lang="zh-CN" altLang="en-US" dirty="0"/>
              <a:t>需要</a:t>
            </a:r>
            <a:r>
              <a:rPr lang="zh-CN" altLang="zh-CN" dirty="0"/>
              <a:t>在</a:t>
            </a:r>
            <a:r>
              <a:rPr lang="zh-CN" altLang="zh-CN" dirty="0" smtClean="0"/>
              <a:t>有限</a:t>
            </a:r>
            <a:r>
              <a:rPr lang="zh-CN" altLang="en-US" dirty="0" smtClean="0"/>
              <a:t>调度决策时间</a:t>
            </a:r>
            <a:r>
              <a:rPr lang="zh-CN" altLang="zh-CN" dirty="0" smtClean="0"/>
              <a:t>内</a:t>
            </a:r>
            <a:r>
              <a:rPr lang="zh-CN" altLang="zh-CN" dirty="0"/>
              <a:t>完成预测与决策。</a:t>
            </a:r>
            <a:endParaRPr lang="en-US" altLang="zh-CN" dirty="0"/>
          </a:p>
          <a:p>
            <a:pPr marL="438912" lvl="1" indent="0">
              <a:buNone/>
            </a:pPr>
            <a:endParaRPr lang="zh-CN" altLang="zh-CN" dirty="0"/>
          </a:p>
          <a:p>
            <a:pPr marL="953262" lvl="1" indent="-514350">
              <a:buFont typeface="+mj-lt"/>
              <a:buAutoNum type="alphaLcParenR"/>
            </a:pP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52360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E85F7-078F-2238-2BC9-973765680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089F7F5-8D15-35AF-9B17-D5F3631C3F3C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817E10F-6396-21A7-A5D4-03FA0251F3ED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E611933A-0D44-B52A-C814-4680ABD5260F}"/>
              </a:ext>
            </a:extLst>
          </p:cNvPr>
          <p:cNvSpPr/>
          <p:nvPr/>
        </p:nvSpPr>
        <p:spPr>
          <a:xfrm>
            <a:off x="5644432" y="3681890"/>
            <a:ext cx="12643568" cy="6605110"/>
          </a:xfrm>
          <a:custGeom>
            <a:avLst/>
            <a:gdLst/>
            <a:ahLst/>
            <a:cxnLst/>
            <a:rect l="l" t="t" r="r" b="b"/>
            <a:pathLst>
              <a:path w="12643568" h="6605110">
                <a:moveTo>
                  <a:pt x="0" y="0"/>
                </a:moveTo>
                <a:lnTo>
                  <a:pt x="12643568" y="0"/>
                </a:lnTo>
                <a:lnTo>
                  <a:pt x="12643568" y="6605110"/>
                </a:lnTo>
                <a:lnTo>
                  <a:pt x="0" y="6605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t="-88799" r="-87129" b="-49855"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E605D3C-FB10-180C-6266-FECCD514E56E}"/>
              </a:ext>
            </a:extLst>
          </p:cNvPr>
          <p:cNvGrpSpPr/>
          <p:nvPr/>
        </p:nvGrpSpPr>
        <p:grpSpPr>
          <a:xfrm>
            <a:off x="2215662" y="2348630"/>
            <a:ext cx="14656898" cy="5599136"/>
            <a:chOff x="0" y="0"/>
            <a:chExt cx="19542530" cy="746551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E5E96A7-08CE-95EC-D13D-724E826240E1}"/>
                </a:ext>
              </a:extLst>
            </p:cNvPr>
            <p:cNvSpPr/>
            <p:nvPr/>
          </p:nvSpPr>
          <p:spPr>
            <a:xfrm>
              <a:off x="0" y="0"/>
              <a:ext cx="19542506" cy="7465568"/>
            </a:xfrm>
            <a:custGeom>
              <a:avLst/>
              <a:gdLst/>
              <a:ahLst/>
              <a:cxnLst/>
              <a:rect l="l" t="t" r="r" b="b"/>
              <a:pathLst>
                <a:path w="19542506" h="7465568">
                  <a:moveTo>
                    <a:pt x="0" y="0"/>
                  </a:moveTo>
                  <a:lnTo>
                    <a:pt x="19542506" y="0"/>
                  </a:lnTo>
                  <a:lnTo>
                    <a:pt x="19542506" y="7465568"/>
                  </a:lnTo>
                  <a:lnTo>
                    <a:pt x="0" y="7465568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zh-CN" altLang="en-US" dirty="0">
                  <a:solidFill>
                    <a:srgbClr val="696969"/>
                  </a:solidFill>
                  <a:ea typeface="思源黑体 3" panose="020B0500000000000000" charset="-122"/>
                </a:rPr>
                <a:t>。</a:t>
              </a:r>
              <a:endParaRPr lang="zh-CN" altLang="en-US" dirty="0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D4DB8799-2156-DC27-E0E2-29076902B26E}"/>
              </a:ext>
            </a:extLst>
          </p:cNvPr>
          <p:cNvSpPr txBox="1"/>
          <p:nvPr/>
        </p:nvSpPr>
        <p:spPr>
          <a:xfrm>
            <a:off x="3053370" y="3365571"/>
            <a:ext cx="3470266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dirty="0">
                <a:solidFill>
                  <a:srgbClr val="000000"/>
                </a:solidFill>
                <a:latin typeface="Montserrat Ultra-Bold" panose="00000900000000000000"/>
              </a:rPr>
              <a:t>PART 2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4F9D867-4039-687F-FD57-9FEFF250DEA9}"/>
              </a:ext>
            </a:extLst>
          </p:cNvPr>
          <p:cNvSpPr txBox="1"/>
          <p:nvPr/>
        </p:nvSpPr>
        <p:spPr>
          <a:xfrm>
            <a:off x="7371531" y="4964650"/>
            <a:ext cx="7285742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zh-CN" altLang="en-US" sz="2700" dirty="0">
                <a:solidFill>
                  <a:srgbClr val="FFC000"/>
                </a:solidFill>
                <a:latin typeface="Montserrat Ultra-Bold" panose="00000900000000000000"/>
              </a:rPr>
              <a:t>基于嵌入式系统的任务调度算法研究</a:t>
            </a:r>
            <a:endParaRPr lang="en-US" sz="2700" dirty="0">
              <a:solidFill>
                <a:srgbClr val="FFC000"/>
              </a:solidFill>
              <a:latin typeface="Montserrat Ultra-Bold" panose="00000900000000000000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A1BFE7C-FD7C-08E4-03FE-38A2245FB5A2}"/>
              </a:ext>
            </a:extLst>
          </p:cNvPr>
          <p:cNvSpPr txBox="1"/>
          <p:nvPr/>
        </p:nvSpPr>
        <p:spPr>
          <a:xfrm>
            <a:off x="7371531" y="5602278"/>
            <a:ext cx="7589586" cy="69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2000" dirty="0">
                <a:solidFill>
                  <a:srgbClr val="696969"/>
                </a:solidFill>
                <a:ea typeface="思源黑体 3" panose="020B0500000000000000" charset="-122"/>
              </a:rPr>
              <a:t>在</a:t>
            </a:r>
            <a:r>
              <a:rPr lang="zh-CN" altLang="en-US" sz="2000" dirty="0" smtClean="0">
                <a:solidFill>
                  <a:srgbClr val="696969"/>
                </a:solidFill>
                <a:ea typeface="思源黑体 3" panose="020B0500000000000000" charset="-122"/>
              </a:rPr>
              <a:t>实际场景</a:t>
            </a:r>
            <a:r>
              <a:rPr lang="zh-CN" altLang="en-US" sz="2000" dirty="0">
                <a:solidFill>
                  <a:srgbClr val="696969"/>
                </a:solidFill>
                <a:ea typeface="思源黑体 3" panose="020B0500000000000000" charset="-122"/>
              </a:rPr>
              <a:t>中</a:t>
            </a:r>
            <a:r>
              <a:rPr lang="zh-CN" altLang="en-US" sz="2000" dirty="0" smtClean="0">
                <a:solidFill>
                  <a:srgbClr val="696969"/>
                </a:solidFill>
                <a:ea typeface="思源黑体 3" panose="020B0500000000000000" charset="-122"/>
              </a:rPr>
              <a:t>，</a:t>
            </a:r>
            <a:r>
              <a:rPr lang="zh-CN" altLang="en-US" sz="2000" dirty="0" smtClean="0">
                <a:solidFill>
                  <a:srgbClr val="696969"/>
                </a:solidFill>
                <a:ea typeface="思源黑体 3" panose="020B0500000000000000" charset="-122"/>
              </a:rPr>
              <a:t>验证测试任务调度和神经网络</a:t>
            </a:r>
            <a:r>
              <a:rPr lang="zh-CN" altLang="en-US" sz="2000" dirty="0" smtClean="0">
                <a:solidFill>
                  <a:srgbClr val="696969"/>
                </a:solidFill>
                <a:ea typeface="思源黑体 3" panose="020B0500000000000000" charset="-122"/>
              </a:rPr>
              <a:t>主流</a:t>
            </a:r>
            <a:r>
              <a:rPr lang="zh-CN" altLang="en-US" sz="2000" dirty="0">
                <a:solidFill>
                  <a:srgbClr val="696969"/>
                </a:solidFill>
                <a:ea typeface="思源黑体 3" panose="020B0500000000000000" charset="-122"/>
              </a:rPr>
              <a:t>的理论，寻找解决方法。</a:t>
            </a:r>
            <a:endParaRPr lang="en-US" sz="2000" dirty="0">
              <a:solidFill>
                <a:srgbClr val="696969"/>
              </a:solidFill>
              <a:ea typeface="思源黑体 3" panose="020B0500000000000000" charset="-122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4D4E455-6326-523B-7897-07C0302518A4}"/>
              </a:ext>
            </a:extLst>
          </p:cNvPr>
          <p:cNvSpPr txBox="1"/>
          <p:nvPr/>
        </p:nvSpPr>
        <p:spPr>
          <a:xfrm>
            <a:off x="7371531" y="3672365"/>
            <a:ext cx="7285742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zh-CN" altLang="en-US" sz="8100" dirty="0">
                <a:solidFill>
                  <a:srgbClr val="1D1818"/>
                </a:solidFill>
                <a:ea typeface="思源黑体-超粗体 Heavy"/>
              </a:rPr>
              <a:t>解决思路</a:t>
            </a:r>
            <a:endParaRPr lang="en-US" sz="8100" dirty="0">
              <a:solidFill>
                <a:srgbClr val="1D1818"/>
              </a:solidFill>
              <a:ea typeface="思源黑体-超粗体 Heavy"/>
            </a:endParaRPr>
          </a:p>
        </p:txBody>
      </p:sp>
      <p:sp>
        <p:nvSpPr>
          <p:cNvPr id="12" name="Freeform 8">
            <a:extLst>
              <a:ext uri="{FF2B5EF4-FFF2-40B4-BE49-F238E27FC236}">
                <a16:creationId xmlns:a16="http://schemas.microsoft.com/office/drawing/2014/main" id="{99D5C69E-564B-F970-CBF8-EF27706F1257}"/>
              </a:ext>
            </a:extLst>
          </p:cNvPr>
          <p:cNvSpPr/>
          <p:nvPr/>
        </p:nvSpPr>
        <p:spPr>
          <a:xfrm flipH="1">
            <a:off x="-2326380" y="1701856"/>
            <a:ext cx="8253274" cy="8585144"/>
          </a:xfrm>
          <a:custGeom>
            <a:avLst/>
            <a:gdLst/>
            <a:ahLst/>
            <a:cxnLst/>
            <a:rect l="l" t="t" r="r" b="b"/>
            <a:pathLst>
              <a:path w="8253274" h="8585144">
                <a:moveTo>
                  <a:pt x="8253273" y="0"/>
                </a:moveTo>
                <a:lnTo>
                  <a:pt x="0" y="0"/>
                </a:lnTo>
                <a:lnTo>
                  <a:pt x="0" y="8585144"/>
                </a:lnTo>
                <a:lnTo>
                  <a:pt x="8253273" y="8585144"/>
                </a:lnTo>
                <a:lnTo>
                  <a:pt x="8253273" y="0"/>
                </a:lnTo>
                <a:close/>
              </a:path>
            </a:pathLst>
          </a:custGeom>
          <a:blipFill>
            <a:blip r:embed="rId3"/>
            <a:stretch>
              <a:fillRect l="-27868" r="-27868"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4443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E5CF4-476A-B2C9-62D2-D17F5B7CD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9F21F1D-5B1E-5B29-5AA8-052C3AD42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274638"/>
            <a:ext cx="8229600" cy="1143000"/>
          </a:xfrm>
        </p:spPr>
        <p:txBody>
          <a:bodyPr/>
          <a:lstStyle/>
          <a:p>
            <a:pPr algn="ctr"/>
            <a:r>
              <a:rPr lang="zh-CN" altLang="en-US" dirty="0"/>
              <a:t>解决思路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D675FFF-E996-6CE5-25C7-DDEA648ED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81300"/>
            <a:ext cx="17068800" cy="6553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神经网络</a:t>
            </a:r>
            <a:r>
              <a:rPr lang="zh-CN" altLang="en-US" dirty="0" smtClean="0"/>
              <a:t>模型</a:t>
            </a:r>
            <a:r>
              <a:rPr lang="zh-CN" altLang="en-US" dirty="0"/>
              <a:t>预测任务调度</a:t>
            </a:r>
            <a:r>
              <a:rPr lang="zh-CN" altLang="en-US" dirty="0" smtClean="0"/>
              <a:t>。机器学习便于发现各种</a:t>
            </a:r>
            <a:r>
              <a:rPr lang="zh-CN" altLang="en-US" dirty="0"/>
              <a:t>复杂场景下任务调度的深刻规律。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操作系统和神经网络的融合，考察任务调度和</a:t>
            </a:r>
            <a:r>
              <a:rPr lang="zh-CN" altLang="en-US" dirty="0" smtClean="0"/>
              <a:t>神经网络结合的</a:t>
            </a:r>
            <a:r>
              <a:rPr lang="zh-CN" altLang="en-US" dirty="0"/>
              <a:t>实际效果。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任务调度预测缓存，</a:t>
            </a:r>
            <a:r>
              <a:rPr lang="zh-CN" altLang="en-US" dirty="0" smtClean="0"/>
              <a:t>减少预测</a:t>
            </a:r>
            <a:r>
              <a:rPr lang="zh-CN" altLang="en-US" dirty="0"/>
              <a:t>开销，提高任务调度速度。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44131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44A3608-855B-D87C-14E7-74D3A015277A}"/>
              </a:ext>
            </a:extLst>
          </p:cNvPr>
          <p:cNvSpPr txBox="1"/>
          <p:nvPr/>
        </p:nvSpPr>
        <p:spPr>
          <a:xfrm>
            <a:off x="3048000" y="42863"/>
            <a:ext cx="2667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图</a:t>
            </a:r>
            <a:r>
              <a:rPr lang="en-US" altLang="zh-CN" sz="2000" dirty="0"/>
              <a:t> 1 </a:t>
            </a:r>
            <a:r>
              <a:rPr lang="en-US" altLang="zh-CN" sz="2000" dirty="0" smtClean="0"/>
              <a:t>  MLP</a:t>
            </a:r>
            <a:r>
              <a:rPr lang="zh-CN" altLang="en-US" sz="2000" dirty="0" smtClean="0"/>
              <a:t>模型</a:t>
            </a:r>
            <a:r>
              <a:rPr lang="zh-CN" altLang="en-US" sz="2000" dirty="0"/>
              <a:t>图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975" y="42863"/>
            <a:ext cx="6496050" cy="944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280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191000" y="0"/>
            <a:ext cx="26125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图</a:t>
            </a:r>
            <a:r>
              <a:rPr lang="en-US" altLang="zh-CN" dirty="0"/>
              <a:t> </a:t>
            </a:r>
            <a:r>
              <a:rPr lang="en-US" altLang="zh-CN" dirty="0" smtClean="0"/>
              <a:t>2   RNN</a:t>
            </a:r>
            <a:r>
              <a:rPr lang="zh-CN" altLang="en-US" dirty="0" smtClean="0"/>
              <a:t>模型</a:t>
            </a:r>
            <a:r>
              <a:rPr lang="zh-CN" altLang="en-US" dirty="0"/>
              <a:t>图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0" y="-33103"/>
            <a:ext cx="7194644" cy="952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520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F77C4-C421-3D26-A619-32D0D6AC3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38D6C65-6712-0F4B-C0B6-D1D634555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274638"/>
            <a:ext cx="8229600" cy="1143000"/>
          </a:xfrm>
        </p:spPr>
        <p:txBody>
          <a:bodyPr/>
          <a:lstStyle/>
          <a:p>
            <a:pPr algn="ctr"/>
            <a:r>
              <a:rPr lang="zh-CN" altLang="en-US" dirty="0"/>
              <a:t>模型训练过程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8ACAE3A-34E7-1A10-AD19-8D3736CC9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81300"/>
            <a:ext cx="17068800" cy="6553200"/>
          </a:xfrm>
        </p:spPr>
        <p:txBody>
          <a:bodyPr>
            <a:normAutofit/>
          </a:bodyPr>
          <a:lstStyle/>
          <a:p>
            <a:pPr marL="713232" lvl="2" indent="0">
              <a:buNone/>
            </a:pPr>
            <a:r>
              <a:rPr lang="en-US" altLang="zh-CN" dirty="0"/>
              <a:t>			 </a:t>
            </a:r>
            <a:r>
              <a:rPr lang="zh-CN" altLang="en-US" sz="2000" dirty="0">
                <a:latin typeface="+mj-ea"/>
                <a:ea typeface="+mj-ea"/>
              </a:rPr>
              <a:t>图 </a:t>
            </a:r>
            <a:r>
              <a:rPr lang="en-US" altLang="zh-CN" sz="2000" dirty="0">
                <a:latin typeface="+mj-ea"/>
                <a:ea typeface="+mj-ea"/>
              </a:rPr>
              <a:t>3</a:t>
            </a:r>
            <a:r>
              <a:rPr lang="en-US" altLang="zh-CN" sz="2000" dirty="0" smtClean="0">
                <a:latin typeface="+mj-ea"/>
                <a:ea typeface="+mj-ea"/>
              </a:rPr>
              <a:t>  </a:t>
            </a:r>
            <a:r>
              <a:rPr lang="zh-CN" altLang="en-US" sz="2000" dirty="0">
                <a:latin typeface="+mj-ea"/>
                <a:ea typeface="+mj-ea"/>
              </a:rPr>
              <a:t>模型</a:t>
            </a:r>
            <a:r>
              <a:rPr lang="zh-CN" altLang="en-US" sz="2000" dirty="0" smtClean="0">
                <a:latin typeface="+mj-ea"/>
                <a:ea typeface="+mj-ea"/>
              </a:rPr>
              <a:t>训练</a:t>
            </a:r>
            <a:r>
              <a:rPr lang="zh-CN" altLang="en-US" sz="2000" dirty="0">
                <a:latin typeface="+mj-ea"/>
                <a:ea typeface="+mj-ea"/>
              </a:rPr>
              <a:t>过程</a:t>
            </a:r>
            <a:r>
              <a:rPr lang="zh-CN" altLang="en-US" sz="2000" dirty="0" smtClean="0">
                <a:latin typeface="+mj-ea"/>
                <a:ea typeface="+mj-ea"/>
              </a:rPr>
              <a:t>图</a:t>
            </a:r>
            <a:endParaRPr lang="en-US" altLang="zh-CN" sz="2000" dirty="0">
              <a:latin typeface="+mj-ea"/>
              <a:ea typeface="+mj-ea"/>
            </a:endParaRPr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05FBA84-AF72-4F46-44C0-D067EA33E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8737" y="3238500"/>
            <a:ext cx="8010525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283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952BD-B9EA-4069-993B-93700CED3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4A2B254-F765-208D-8DDB-8E14C9740274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625CF7B-E7DD-2D3D-E644-4B0292BF6727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1006FBEA-6B5E-AB06-B1A6-AECE8C1E3787}"/>
              </a:ext>
            </a:extLst>
          </p:cNvPr>
          <p:cNvSpPr/>
          <p:nvPr/>
        </p:nvSpPr>
        <p:spPr>
          <a:xfrm>
            <a:off x="5644432" y="3681890"/>
            <a:ext cx="12643568" cy="6605110"/>
          </a:xfrm>
          <a:custGeom>
            <a:avLst/>
            <a:gdLst/>
            <a:ahLst/>
            <a:cxnLst/>
            <a:rect l="l" t="t" r="r" b="b"/>
            <a:pathLst>
              <a:path w="12643568" h="6605110">
                <a:moveTo>
                  <a:pt x="0" y="0"/>
                </a:moveTo>
                <a:lnTo>
                  <a:pt x="12643568" y="0"/>
                </a:lnTo>
                <a:lnTo>
                  <a:pt x="12643568" y="6605110"/>
                </a:lnTo>
                <a:lnTo>
                  <a:pt x="0" y="6605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t="-88799" r="-87129" b="-49855"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BA796ED0-3817-AF3F-BCF0-89DFA702A7DD}"/>
              </a:ext>
            </a:extLst>
          </p:cNvPr>
          <p:cNvGrpSpPr/>
          <p:nvPr/>
        </p:nvGrpSpPr>
        <p:grpSpPr>
          <a:xfrm>
            <a:off x="2215662" y="2348630"/>
            <a:ext cx="14656898" cy="5599136"/>
            <a:chOff x="0" y="0"/>
            <a:chExt cx="19542530" cy="746551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0582B41-2C91-6AF3-CE12-C224DBDD5941}"/>
                </a:ext>
              </a:extLst>
            </p:cNvPr>
            <p:cNvSpPr/>
            <p:nvPr/>
          </p:nvSpPr>
          <p:spPr>
            <a:xfrm>
              <a:off x="0" y="0"/>
              <a:ext cx="19542506" cy="7465568"/>
            </a:xfrm>
            <a:custGeom>
              <a:avLst/>
              <a:gdLst/>
              <a:ahLst/>
              <a:cxnLst/>
              <a:rect l="l" t="t" r="r" b="b"/>
              <a:pathLst>
                <a:path w="19542506" h="7465568">
                  <a:moveTo>
                    <a:pt x="0" y="0"/>
                  </a:moveTo>
                  <a:lnTo>
                    <a:pt x="19542506" y="0"/>
                  </a:lnTo>
                  <a:lnTo>
                    <a:pt x="19542506" y="7465568"/>
                  </a:lnTo>
                  <a:lnTo>
                    <a:pt x="0" y="7465568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zh-CN" altLang="en-US" dirty="0">
                  <a:solidFill>
                    <a:srgbClr val="696969"/>
                  </a:solidFill>
                  <a:ea typeface="思源黑体 3" panose="020B0500000000000000" charset="-122"/>
                </a:rPr>
                <a:t>。</a:t>
              </a:r>
              <a:endParaRPr lang="zh-CN" altLang="en-US" dirty="0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9A4B0357-94C6-D1A3-D7BE-37DEB362F480}"/>
              </a:ext>
            </a:extLst>
          </p:cNvPr>
          <p:cNvSpPr txBox="1"/>
          <p:nvPr/>
        </p:nvSpPr>
        <p:spPr>
          <a:xfrm>
            <a:off x="3053370" y="3365571"/>
            <a:ext cx="3470266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dirty="0">
                <a:solidFill>
                  <a:srgbClr val="000000"/>
                </a:solidFill>
                <a:latin typeface="Montserrat Ultra-Bold" panose="00000900000000000000"/>
              </a:rPr>
              <a:t>PART 2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7CF441E-07C7-5737-8595-E50886C358B6}"/>
              </a:ext>
            </a:extLst>
          </p:cNvPr>
          <p:cNvSpPr txBox="1"/>
          <p:nvPr/>
        </p:nvSpPr>
        <p:spPr>
          <a:xfrm>
            <a:off x="7371531" y="4964650"/>
            <a:ext cx="7285742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zh-CN" altLang="en-US" sz="2700" dirty="0">
                <a:solidFill>
                  <a:srgbClr val="FFC000"/>
                </a:solidFill>
                <a:latin typeface="Montserrat Ultra-Bold" panose="00000900000000000000"/>
              </a:rPr>
              <a:t>基于嵌入式系统的任务调度算法研究</a:t>
            </a:r>
            <a:endParaRPr lang="en-US" sz="2700" dirty="0">
              <a:solidFill>
                <a:srgbClr val="FFC000"/>
              </a:solidFill>
              <a:latin typeface="Montserrat Ultra-Bold" panose="00000900000000000000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7E0478B-11CB-1E7B-0DB5-FA70F88AEDA9}"/>
              </a:ext>
            </a:extLst>
          </p:cNvPr>
          <p:cNvSpPr txBox="1"/>
          <p:nvPr/>
        </p:nvSpPr>
        <p:spPr>
          <a:xfrm>
            <a:off x="7371531" y="5602278"/>
            <a:ext cx="7589586" cy="688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10"/>
              </a:lnSpc>
            </a:pPr>
            <a:r>
              <a:rPr lang="zh-CN" altLang="en-US" sz="2000" dirty="0">
                <a:solidFill>
                  <a:srgbClr val="696969"/>
                </a:solidFill>
                <a:ea typeface="思源黑体 3" panose="020B0500000000000000" charset="-122"/>
              </a:rPr>
              <a:t>任务调度算法、任务调度实现</a:t>
            </a:r>
            <a:r>
              <a:rPr lang="zh-CN" altLang="en-US" sz="2000" dirty="0" smtClean="0">
                <a:solidFill>
                  <a:srgbClr val="696969"/>
                </a:solidFill>
                <a:ea typeface="思源黑体 3" panose="020B0500000000000000" charset="-122"/>
              </a:rPr>
              <a:t>、</a:t>
            </a:r>
            <a:r>
              <a:rPr lang="zh-CN" altLang="en-US" sz="2000" dirty="0">
                <a:solidFill>
                  <a:srgbClr val="696969"/>
                </a:solidFill>
                <a:ea typeface="思源黑体 3" panose="020B0500000000000000" charset="-122"/>
              </a:rPr>
              <a:t>神经网络</a:t>
            </a:r>
            <a:r>
              <a:rPr lang="zh-CN" altLang="en-US" sz="2000" dirty="0" smtClean="0">
                <a:solidFill>
                  <a:srgbClr val="696969"/>
                </a:solidFill>
                <a:ea typeface="思源黑体 3" panose="020B0500000000000000" charset="-122"/>
              </a:rPr>
              <a:t>下</a:t>
            </a:r>
            <a:r>
              <a:rPr lang="zh-CN" altLang="en-US" sz="2000" dirty="0">
                <a:solidFill>
                  <a:srgbClr val="696969"/>
                </a:solidFill>
                <a:ea typeface="思源黑体 3" panose="020B0500000000000000" charset="-122"/>
              </a:rPr>
              <a:t>的任务调度预测</a:t>
            </a:r>
            <a:r>
              <a:rPr lang="zh-CN" altLang="en-US" sz="2000" dirty="0" smtClean="0">
                <a:solidFill>
                  <a:srgbClr val="696969"/>
                </a:solidFill>
                <a:ea typeface="思源黑体 3" panose="020B0500000000000000" charset="-122"/>
              </a:rPr>
              <a:t>、</a:t>
            </a:r>
            <a:r>
              <a:rPr lang="zh-CN" altLang="en-US" sz="2000" dirty="0">
                <a:solidFill>
                  <a:srgbClr val="696969"/>
                </a:solidFill>
                <a:ea typeface="思源黑体 3" panose="020B0500000000000000" charset="-122"/>
              </a:rPr>
              <a:t>神经网络</a:t>
            </a:r>
            <a:r>
              <a:rPr lang="zh-CN" altLang="en-US" sz="2000" dirty="0" smtClean="0">
                <a:solidFill>
                  <a:srgbClr val="696969"/>
                </a:solidFill>
                <a:ea typeface="思源黑体 3" panose="020B0500000000000000" charset="-122"/>
              </a:rPr>
              <a:t>和</a:t>
            </a:r>
            <a:r>
              <a:rPr lang="zh-CN" altLang="en-US" sz="2000" dirty="0">
                <a:solidFill>
                  <a:srgbClr val="696969"/>
                </a:solidFill>
                <a:ea typeface="思源黑体 3" panose="020B0500000000000000" charset="-122"/>
              </a:rPr>
              <a:t>任务调度融合。</a:t>
            </a:r>
            <a:endParaRPr lang="en-US" sz="2000" dirty="0">
              <a:solidFill>
                <a:srgbClr val="696969"/>
              </a:solidFill>
              <a:ea typeface="思源黑体 3" panose="020B0500000000000000" charset="-122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195BDD1-29A2-D3A3-9A48-49A7D0BB825D}"/>
              </a:ext>
            </a:extLst>
          </p:cNvPr>
          <p:cNvSpPr txBox="1"/>
          <p:nvPr/>
        </p:nvSpPr>
        <p:spPr>
          <a:xfrm>
            <a:off x="7371531" y="3672365"/>
            <a:ext cx="7285742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zh-CN" altLang="en-US" sz="8100" dirty="0">
                <a:solidFill>
                  <a:srgbClr val="1D1818"/>
                </a:solidFill>
                <a:ea typeface="思源黑体-超粗体 Heavy"/>
              </a:rPr>
              <a:t>论文进度</a:t>
            </a:r>
            <a:endParaRPr lang="en-US" sz="8100" dirty="0">
              <a:solidFill>
                <a:srgbClr val="1D1818"/>
              </a:solidFill>
              <a:ea typeface="思源黑体-超粗体 Heavy"/>
            </a:endParaRPr>
          </a:p>
        </p:txBody>
      </p:sp>
      <p:sp>
        <p:nvSpPr>
          <p:cNvPr id="12" name="Freeform 8">
            <a:extLst>
              <a:ext uri="{FF2B5EF4-FFF2-40B4-BE49-F238E27FC236}">
                <a16:creationId xmlns:a16="http://schemas.microsoft.com/office/drawing/2014/main" id="{36C78C6F-DC9C-76C7-348A-6C318EE72D90}"/>
              </a:ext>
            </a:extLst>
          </p:cNvPr>
          <p:cNvSpPr/>
          <p:nvPr/>
        </p:nvSpPr>
        <p:spPr>
          <a:xfrm flipH="1">
            <a:off x="-2326380" y="1701856"/>
            <a:ext cx="8253274" cy="8585144"/>
          </a:xfrm>
          <a:custGeom>
            <a:avLst/>
            <a:gdLst/>
            <a:ahLst/>
            <a:cxnLst/>
            <a:rect l="l" t="t" r="r" b="b"/>
            <a:pathLst>
              <a:path w="8253274" h="8585144">
                <a:moveTo>
                  <a:pt x="8253273" y="0"/>
                </a:moveTo>
                <a:lnTo>
                  <a:pt x="0" y="0"/>
                </a:lnTo>
                <a:lnTo>
                  <a:pt x="0" y="8585144"/>
                </a:lnTo>
                <a:lnTo>
                  <a:pt x="8253273" y="8585144"/>
                </a:lnTo>
                <a:lnTo>
                  <a:pt x="8253273" y="0"/>
                </a:lnTo>
                <a:close/>
              </a:path>
            </a:pathLst>
          </a:custGeom>
          <a:blipFill>
            <a:blip r:embed="rId3"/>
            <a:stretch>
              <a:fillRect l="-27868" r="-27868"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64354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E5C3D-D7CD-B04A-BD41-10C76AF32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D2AC762-2D9D-206E-C8E4-AE4DCE781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274638"/>
            <a:ext cx="8229600" cy="1143000"/>
          </a:xfrm>
        </p:spPr>
        <p:txBody>
          <a:bodyPr/>
          <a:lstStyle/>
          <a:p>
            <a:pPr algn="ctr"/>
            <a:r>
              <a:rPr lang="zh-CN" altLang="en-US" dirty="0"/>
              <a:t>论文进展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4C01923-99F9-5647-2063-B59CAFC0C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81300"/>
            <a:ext cx="17068800" cy="6553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操作系统内核开发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任务调度原理和实现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 smtClean="0"/>
              <a:t>神经网络下任务</a:t>
            </a:r>
            <a:r>
              <a:rPr lang="zh-CN" altLang="en-US" dirty="0"/>
              <a:t>调度决策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神经网络和任务调度的融合、改进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2801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FFB325B-DBBA-BE64-CBC7-6BD81C3DD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274638"/>
            <a:ext cx="8229600" cy="114300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操作系统内核实现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6B0AD6E-8434-65B9-1D3F-4E643D39D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81300"/>
            <a:ext cx="17068800" cy="6553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 err="1"/>
              <a:t>LiunuxOS</a:t>
            </a:r>
            <a:r>
              <a:rPr lang="zh-CN" altLang="en-US" dirty="0" smtClean="0"/>
              <a:t>系统简介</a:t>
            </a:r>
            <a:endParaRPr lang="en-US" altLang="zh-CN" dirty="0" smtClean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 smtClean="0"/>
              <a:t>基于自研的</a:t>
            </a:r>
            <a:r>
              <a:rPr lang="en-US" altLang="zh-CN" dirty="0" smtClean="0"/>
              <a:t>x86</a:t>
            </a:r>
            <a:r>
              <a:rPr lang="zh-CN" altLang="en-US" dirty="0"/>
              <a:t> </a:t>
            </a:r>
            <a:r>
              <a:rPr lang="en-US" altLang="zh-CN" dirty="0" smtClean="0"/>
              <a:t>32/64</a:t>
            </a:r>
            <a:r>
              <a:rPr lang="zh-CN" altLang="en-US" dirty="0" smtClean="0"/>
              <a:t>位</a:t>
            </a:r>
            <a:r>
              <a:rPr lang="zh-CN" altLang="en-US" dirty="0"/>
              <a:t>多核多进程</a:t>
            </a:r>
            <a:r>
              <a:rPr lang="zh-CN" altLang="en-US" dirty="0" smtClean="0"/>
              <a:t>操作系统内核。支持</a:t>
            </a:r>
            <a:r>
              <a:rPr lang="en-US" altLang="zh-CN" dirty="0" smtClean="0"/>
              <a:t>1-256</a:t>
            </a:r>
            <a:r>
              <a:rPr lang="zh-CN" altLang="en-US" dirty="0" smtClean="0"/>
              <a:t>个</a:t>
            </a:r>
            <a:r>
              <a:rPr lang="en-US" altLang="zh-CN" dirty="0" smtClean="0"/>
              <a:t>CPU</a:t>
            </a:r>
            <a:r>
              <a:rPr lang="zh-CN" altLang="en-US" dirty="0" smtClean="0"/>
              <a:t>，每个</a:t>
            </a:r>
            <a:r>
              <a:rPr lang="en-US" altLang="zh-CN" dirty="0" smtClean="0"/>
              <a:t>CPU</a:t>
            </a:r>
            <a:r>
              <a:rPr lang="zh-CN" altLang="en-US" dirty="0" smtClean="0"/>
              <a:t>最多</a:t>
            </a:r>
            <a:r>
              <a:rPr lang="zh-CN" altLang="en-US" dirty="0" smtClean="0"/>
              <a:t>支持</a:t>
            </a:r>
            <a:r>
              <a:rPr lang="en-US" altLang="zh-CN" dirty="0" smtClean="0"/>
              <a:t>256</a:t>
            </a:r>
            <a:r>
              <a:rPr lang="zh-CN" altLang="en-US" dirty="0" smtClean="0"/>
              <a:t>个进程</a:t>
            </a:r>
            <a:r>
              <a:rPr lang="zh-CN" altLang="en-US" dirty="0" smtClean="0"/>
              <a:t>，基于</a:t>
            </a:r>
            <a:r>
              <a:rPr lang="zh-CN" altLang="en-US" dirty="0" smtClean="0"/>
              <a:t>优先级的通用任务调度策略。</a:t>
            </a:r>
            <a:endParaRPr lang="en-US" altLang="zh-CN" dirty="0" smtClean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 smtClean="0"/>
              <a:t>支持</a:t>
            </a:r>
            <a:r>
              <a:rPr lang="zh-CN" altLang="en-US" dirty="0" smtClean="0"/>
              <a:t>多用户下进程隔离，内存</a:t>
            </a:r>
            <a:r>
              <a:rPr lang="zh-CN" altLang="en-US" dirty="0" smtClean="0"/>
              <a:t>虚拟</a:t>
            </a:r>
            <a:r>
              <a:rPr lang="zh-CN" altLang="en-US" dirty="0" smtClean="0"/>
              <a:t>映射机制。</a:t>
            </a:r>
            <a:endParaRPr lang="en-US" altLang="zh-CN" dirty="0" smtClean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 smtClean="0"/>
              <a:t>文件个数极少，总文件小于</a:t>
            </a:r>
            <a:r>
              <a:rPr lang="en-US" altLang="zh-CN" dirty="0" smtClean="0"/>
              <a:t>1M</a:t>
            </a:r>
            <a:r>
              <a:rPr lang="zh-CN" altLang="en-US" dirty="0" smtClean="0"/>
              <a:t>，无安装过程，</a:t>
            </a:r>
            <a:r>
              <a:rPr lang="zh-CN" altLang="en-US" dirty="0"/>
              <a:t>面向</a:t>
            </a:r>
            <a:r>
              <a:rPr lang="zh-CN" altLang="en-US" dirty="0" smtClean="0"/>
              <a:t>嵌入式</a:t>
            </a:r>
            <a:r>
              <a:rPr lang="zh-CN" altLang="en-US" dirty="0" smtClean="0"/>
              <a:t>设备。</a:t>
            </a:r>
            <a:endParaRPr lang="en-US" altLang="zh-CN" dirty="0" smtClean="0"/>
          </a:p>
          <a:p>
            <a:pPr marL="953262" lvl="1" indent="-514350">
              <a:buFont typeface="+mj-lt"/>
              <a:buAutoNum type="alphaLcParenR"/>
            </a:pP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930879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4CB50-4BA9-5DBE-CF7D-F8A9EABA0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057F248-0B6A-2541-A50D-FC185B7D0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274638"/>
            <a:ext cx="8229600" cy="1143000"/>
          </a:xfrm>
        </p:spPr>
        <p:txBody>
          <a:bodyPr/>
          <a:lstStyle/>
          <a:p>
            <a:pPr algn="ctr"/>
            <a:r>
              <a:rPr lang="zh-CN" altLang="en-US" dirty="0"/>
              <a:t>任务调度原理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CEB43C6-54A1-93D4-907D-C08E10084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81300"/>
            <a:ext cx="17068800" cy="65532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 smtClean="0"/>
              <a:t>中断机制和时钟</a:t>
            </a:r>
            <a:r>
              <a:rPr lang="zh-CN" altLang="en-US" dirty="0"/>
              <a:t>中断</a:t>
            </a:r>
            <a:r>
              <a:rPr lang="zh-CN" altLang="en-US" dirty="0" smtClean="0"/>
              <a:t>。选择</a:t>
            </a:r>
            <a:r>
              <a:rPr lang="en-US" altLang="zh-CN" dirty="0" smtClean="0"/>
              <a:t>APIC Timer</a:t>
            </a:r>
            <a:r>
              <a:rPr lang="zh-CN" altLang="en-US" dirty="0" smtClean="0"/>
              <a:t>中断</a:t>
            </a:r>
            <a:r>
              <a:rPr lang="zh-CN" altLang="en-US" dirty="0" smtClean="0"/>
              <a:t>作为任务调度的动力。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任务执行环境</a:t>
            </a:r>
            <a:r>
              <a:rPr lang="zh-CN" altLang="en-US" dirty="0" smtClean="0"/>
              <a:t>。硬件信息、通用寄存器</a:t>
            </a:r>
            <a:r>
              <a:rPr lang="zh-CN" altLang="en-US" dirty="0"/>
              <a:t>、浮点环境、分页。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任务状态</a:t>
            </a:r>
            <a:r>
              <a:rPr lang="zh-CN" altLang="en-US" dirty="0" smtClean="0"/>
              <a:t>段以及相关硬件机制。</a:t>
            </a:r>
            <a:r>
              <a:rPr lang="en-US" altLang="zh-CN" dirty="0"/>
              <a:t>CR3</a:t>
            </a:r>
            <a:r>
              <a:rPr lang="zh-CN" altLang="en-US" dirty="0"/>
              <a:t>、内核栈切换。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线程和进程。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3832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EC9FC-66A5-BE8A-0926-88FE837D2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4C2C038-47D5-E14F-D8DB-44E08B589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0" y="274638"/>
            <a:ext cx="9296400" cy="114300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任务调度实现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7099300-BFC6-7D52-8EA0-4EF0B67AD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781300"/>
            <a:ext cx="17449800" cy="65532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通用任务调度的</a:t>
            </a:r>
            <a:r>
              <a:rPr lang="zh-CN" altLang="en-US" dirty="0" smtClean="0"/>
              <a:t>几种主要分类：轮转</a:t>
            </a:r>
            <a:r>
              <a:rPr lang="zh-CN" altLang="en-US" dirty="0"/>
              <a:t>调度、优先级调度、抢占式调度。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多核环境下的负载均衡和</a:t>
            </a:r>
            <a:r>
              <a:rPr lang="en-US" altLang="zh-CN" dirty="0"/>
              <a:t>CPU</a:t>
            </a:r>
            <a:r>
              <a:rPr lang="zh-CN" altLang="en-US" dirty="0"/>
              <a:t>调度。</a:t>
            </a: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r>
              <a:rPr lang="en-US" altLang="zh-CN" dirty="0"/>
              <a:t>AP</a:t>
            </a:r>
            <a:r>
              <a:rPr lang="zh-CN" altLang="en-US" dirty="0" smtClean="0"/>
              <a:t>初始化、</a:t>
            </a:r>
            <a:r>
              <a:rPr lang="en-US" altLang="zh-CN" dirty="0"/>
              <a:t>IPI</a:t>
            </a:r>
            <a:r>
              <a:rPr lang="zh-CN" altLang="en-US" dirty="0"/>
              <a:t>通信、</a:t>
            </a:r>
            <a:r>
              <a:rPr lang="en-US" altLang="zh-CN" dirty="0"/>
              <a:t>ICR</a:t>
            </a:r>
            <a:r>
              <a:rPr lang="zh-CN" altLang="en-US" dirty="0"/>
              <a:t>寄存器。</a:t>
            </a: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r>
              <a:rPr lang="en-US" altLang="zh-CN" dirty="0"/>
              <a:t>CPU</a:t>
            </a:r>
            <a:r>
              <a:rPr lang="zh-CN" altLang="en-US" dirty="0"/>
              <a:t>调度</a:t>
            </a:r>
            <a:r>
              <a:rPr lang="zh-CN" altLang="en-US" dirty="0" smtClean="0"/>
              <a:t>。各个</a:t>
            </a:r>
            <a:r>
              <a:rPr lang="en-US" altLang="zh-CN" dirty="0" smtClean="0"/>
              <a:t>CPU</a:t>
            </a:r>
            <a:r>
              <a:rPr lang="zh-CN" altLang="en-US" dirty="0" smtClean="0"/>
              <a:t>的占用率（</a:t>
            </a:r>
            <a:r>
              <a:rPr lang="zh-CN" altLang="en-US" dirty="0" smtClean="0"/>
              <a:t>权重</a:t>
            </a:r>
            <a:r>
              <a:rPr lang="en-US" altLang="zh-CN" dirty="0"/>
              <a:t>8</a:t>
            </a:r>
            <a:r>
              <a:rPr lang="en-US" altLang="zh-CN" dirty="0" smtClean="0"/>
              <a:t>0</a:t>
            </a:r>
            <a:r>
              <a:rPr lang="en-US" altLang="zh-CN" dirty="0" smtClean="0"/>
              <a:t>%</a:t>
            </a:r>
            <a:r>
              <a:rPr lang="zh-CN" altLang="en-US" dirty="0" smtClean="0"/>
              <a:t>）、运行</a:t>
            </a:r>
            <a:r>
              <a:rPr lang="zh-CN" altLang="en-US" dirty="0" smtClean="0"/>
              <a:t>线程数</a:t>
            </a:r>
            <a:r>
              <a:rPr lang="en-US" altLang="zh-CN" dirty="0" smtClean="0"/>
              <a:t>(</a:t>
            </a:r>
            <a:r>
              <a:rPr lang="zh-CN" altLang="en-US" dirty="0" smtClean="0"/>
              <a:t>权重</a:t>
            </a:r>
            <a:r>
              <a:rPr lang="en-US" altLang="zh-CN" dirty="0" smtClean="0"/>
              <a:t>10</a:t>
            </a:r>
            <a:r>
              <a:rPr lang="en-US" altLang="zh-CN" dirty="0" smtClean="0"/>
              <a:t>%)</a:t>
            </a:r>
            <a:r>
              <a:rPr lang="zh-CN" altLang="en-US" dirty="0" smtClean="0"/>
              <a:t>、历史调度率</a:t>
            </a:r>
            <a:r>
              <a:rPr lang="en-US" altLang="zh-CN" dirty="0"/>
              <a:t>(</a:t>
            </a:r>
            <a:r>
              <a:rPr lang="zh-CN" altLang="en-US" dirty="0"/>
              <a:t>权重</a:t>
            </a:r>
            <a:r>
              <a:rPr lang="en-US" altLang="zh-CN" dirty="0"/>
              <a:t>10%)</a:t>
            </a: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/>
              <a:t>负载均衡</a:t>
            </a:r>
            <a:r>
              <a:rPr lang="zh-CN" altLang="en-US" dirty="0" smtClean="0"/>
              <a:t>。各个</a:t>
            </a:r>
            <a:r>
              <a:rPr lang="en-US" altLang="zh-CN" dirty="0" smtClean="0"/>
              <a:t>CPU</a:t>
            </a:r>
            <a:r>
              <a:rPr lang="zh-CN" altLang="en-US" dirty="0" smtClean="0"/>
              <a:t>间进程传递。</a:t>
            </a:r>
            <a:endParaRPr lang="en-US" altLang="zh-CN" dirty="0" smtClean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 smtClean="0"/>
              <a:t>相同核心下多个任务的调度。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任务创建、任务调度的实现。</a:t>
            </a: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/>
              <a:t>任务创建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1227582" lvl="2" indent="-514350">
              <a:buFont typeface="+mj-ea"/>
              <a:buAutoNum type="circleNumDbPlain"/>
            </a:pPr>
            <a:r>
              <a:rPr lang="zh-CN" altLang="en-US" dirty="0" smtClean="0"/>
              <a:t>文件读取、可执行文件的内存</a:t>
            </a:r>
            <a:r>
              <a:rPr lang="zh-CN" altLang="en-US" dirty="0"/>
              <a:t>映射、导入导出函数</a:t>
            </a:r>
            <a:r>
              <a:rPr lang="zh-CN" altLang="en-US" dirty="0" smtClean="0"/>
              <a:t>填充、重定位。</a:t>
            </a:r>
            <a:endParaRPr lang="en-US" altLang="zh-CN" dirty="0" smtClean="0"/>
          </a:p>
          <a:p>
            <a:pPr marL="1227582" lvl="2" indent="-514350">
              <a:buFont typeface="+mj-ea"/>
              <a:buAutoNum type="circleNumDbPlain"/>
            </a:pPr>
            <a:r>
              <a:rPr lang="zh-CN" altLang="en-US" dirty="0" smtClean="0"/>
              <a:t>构建</a:t>
            </a:r>
            <a:r>
              <a:rPr lang="zh-CN" altLang="en-US" dirty="0" smtClean="0"/>
              <a:t>线程信息结构、栈、程序参数。</a:t>
            </a: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/>
              <a:t>任务调度过程</a:t>
            </a:r>
            <a:r>
              <a:rPr lang="zh-CN" altLang="en-US" dirty="0" smtClean="0"/>
              <a:t>。线程运行环境切换、浮点环境切换、休眠控制、调试信息、统计信息。</a:t>
            </a: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80456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BCA622-103E-0DEB-326F-5BC2E2420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任务调度实现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9B7AA9-8994-A65F-38DF-D7110D18CB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 startAt="4"/>
                </a:pPr>
                <a:r>
                  <a:rPr lang="zh-CN" altLang="en-US" dirty="0"/>
                  <a:t>基于优先级的、带有老化机制的调度算法实现。优先级加权求和，分数最高者优先。优先级要素：线程利用率、线程</a:t>
                </a:r>
                <a:r>
                  <a:rPr lang="en-US" altLang="zh-CN" dirty="0"/>
                  <a:t>CPU</a:t>
                </a:r>
                <a:r>
                  <a:rPr lang="zh-CN" altLang="en-US" dirty="0"/>
                  <a:t>利用率、</a:t>
                </a:r>
                <a:r>
                  <a:rPr lang="en-US" altLang="zh-CN" dirty="0"/>
                  <a:t>CPU</a:t>
                </a:r>
                <a:r>
                  <a:rPr lang="zh-CN" altLang="en-US" dirty="0"/>
                  <a:t>利用率、动态优先级、交互优先级、静态优先级、用户系统等级、窗口优先级。</a:t>
                </a:r>
                <a:endParaRPr lang="en-US" altLang="zh-CN" dirty="0"/>
              </a:p>
              <a:p>
                <a:pPr marL="953262" lvl="1" indent="-514350">
                  <a:buFont typeface="+mj-lt"/>
                  <a:buAutoNum type="alphaLcParenR"/>
                </a:pPr>
                <a:r>
                  <a:rPr lang="zh-CN" altLang="en-US" dirty="0"/>
                  <a:t>线程利用率：</a:t>
                </a: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b="1" i="1" dirty="0"/>
                      <m:t>线程有效指令（除去</m:t>
                    </m:r>
                    <m:r>
                      <m:rPr>
                        <m:nor/>
                      </m:rPr>
                      <a:rPr lang="en-US" altLang="zh-CN" b="1" i="1" dirty="0"/>
                      <m:t>HLT</m:t>
                    </m:r>
                    <m:r>
                      <m:rPr>
                        <m:nor/>
                      </m:rPr>
                      <a:rPr lang="zh-CN" altLang="en-US" b="1" i="1" dirty="0"/>
                      <m:t>）时间</m:t>
                    </m:r>
                    <m:r>
                      <m:rPr>
                        <m:nor/>
                      </m:rPr>
                      <a:rPr lang="en-US" altLang="zh-CN" b="1" i="1" dirty="0"/>
                      <m:t> 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 </m:t>
                    </m:r>
                    <m:r>
                      <a:rPr lang="zh-CN" alt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时间片</m:t>
                    </m:r>
                  </m:oMath>
                </a14:m>
                <a:endParaRPr lang="en-US" altLang="zh-CN" b="1" i="1" dirty="0"/>
              </a:p>
              <a:p>
                <a:pPr marL="953262" lvl="1" indent="-514350">
                  <a:buFont typeface="+mj-lt"/>
                  <a:buAutoNum type="alphaLcParenR"/>
                </a:pPr>
                <a:r>
                  <a:rPr lang="zh-CN" altLang="en-US" dirty="0"/>
                  <a:t>线程</a:t>
                </a:r>
                <a:r>
                  <a:rPr lang="en-US" altLang="zh-CN" dirty="0"/>
                  <a:t>CPU</a:t>
                </a:r>
                <a:r>
                  <a:rPr lang="zh-CN" altLang="en-US" dirty="0"/>
                  <a:t>利用率：</a:t>
                </a: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zh-CN" altLang="en-US" b="1" i="1" dirty="0"/>
                      <m:t>线程有效指令（除去</m:t>
                    </m:r>
                    <m:r>
                      <m:rPr>
                        <m:nor/>
                      </m:rPr>
                      <a:rPr lang="en-US" altLang="zh-CN" b="1" i="1" dirty="0"/>
                      <m:t>HLT</m:t>
                    </m:r>
                    <m:r>
                      <m:rPr>
                        <m:nor/>
                      </m:rPr>
                      <a:rPr lang="zh-CN" altLang="en-US" b="1" i="1" dirty="0"/>
                      <m:t>）时间</m:t>
                    </m:r>
                    <m:r>
                      <m:rPr>
                        <m:nor/>
                      </m:rPr>
                      <a:rPr lang="en-US" altLang="zh-CN" b="1" i="1" dirty="0"/>
                      <m:t> 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 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𝑪𝑷𝑼</m:t>
                    </m:r>
                    <m:r>
                      <a:rPr lang="zh-CN" alt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运行</m:t>
                    </m:r>
                    <m:r>
                      <m:rPr>
                        <m:nor/>
                      </m:rPr>
                      <a:rPr lang="zh-CN" altLang="en-US" b="1" i="1" dirty="0"/>
                      <m:t>时间</m:t>
                    </m:r>
                  </m:oMath>
                </a14:m>
                <a:endParaRPr lang="en-US" altLang="zh-CN" b="1" i="1" dirty="0"/>
              </a:p>
              <a:p>
                <a:pPr marL="953262" lvl="1" indent="-514350">
                  <a:buFont typeface="+mj-lt"/>
                  <a:buAutoNum type="alphaLcParenR"/>
                </a:pPr>
                <a:r>
                  <a:rPr lang="en-US" altLang="zh-CN" dirty="0"/>
                  <a:t>CPU</a:t>
                </a:r>
                <a:r>
                  <a:rPr lang="zh-CN" altLang="en-US" dirty="0"/>
                  <a:t>利用率：</a:t>
                </a:r>
                <a:r>
                  <a:rPr lang="en-US" altLang="zh-CN" dirty="0"/>
                  <a:t>	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b="1" i="1" dirty="0"/>
                      <m:t>CPU</m:t>
                    </m:r>
                    <m:r>
                      <m:rPr>
                        <m:nor/>
                      </m:rPr>
                      <a:rPr lang="zh-CN" altLang="en-US" b="1" i="1" dirty="0"/>
                      <m:t>有效指令（除去</m:t>
                    </m:r>
                    <m:r>
                      <m:rPr>
                        <m:nor/>
                      </m:rPr>
                      <a:rPr lang="en-US" altLang="zh-CN" b="1" i="1" dirty="0"/>
                      <m:t>HLT</m:t>
                    </m:r>
                    <m:r>
                      <m:rPr>
                        <m:nor/>
                      </m:rPr>
                      <a:rPr lang="zh-CN" altLang="en-US" b="1" i="1" dirty="0"/>
                      <m:t>）时间</m:t>
                    </m:r>
                    <m:r>
                      <m:rPr>
                        <m:nor/>
                      </m:rPr>
                      <a:rPr lang="en-US" altLang="zh-CN" b="1" i="1" dirty="0"/>
                      <m:t> 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 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𝑪𝑷𝑼</m:t>
                    </m:r>
                    <m:r>
                      <a:rPr lang="zh-CN" alt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运行</m:t>
                    </m:r>
                    <m:r>
                      <m:rPr>
                        <m:nor/>
                      </m:rPr>
                      <a:rPr lang="zh-CN" altLang="en-US" b="1" i="1" dirty="0"/>
                      <m:t>时间</m:t>
                    </m:r>
                  </m:oMath>
                </a14:m>
                <a:endParaRPr lang="en-US" altLang="zh-CN" b="1" i="1" dirty="0"/>
              </a:p>
              <a:p>
                <a:pPr marL="953262" lvl="1" indent="-514350">
                  <a:buFont typeface="+mj-lt"/>
                  <a:buAutoNum type="alphaLcParenR"/>
                </a:pPr>
                <a:r>
                  <a:rPr lang="zh-CN" altLang="en-US" dirty="0"/>
                  <a:t>动态优先级：每次调度时，被调度者清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，未被调度者提升；权重过半。</a:t>
                </a:r>
                <a:endParaRPr lang="en-US" altLang="zh-CN" dirty="0"/>
              </a:p>
              <a:p>
                <a:pPr marL="953262" lvl="1" indent="-514350">
                  <a:buFont typeface="+mj-lt"/>
                  <a:buAutoNum type="alphaLcParenR"/>
                </a:pPr>
                <a:r>
                  <a:rPr lang="zh-CN" altLang="en-US" dirty="0"/>
                  <a:t>交互优先级：外设（键盘鼠标、文件等）读写提升；被调度后下降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pPr marL="953262" lvl="1" indent="-514350">
                  <a:buFont typeface="+mj-lt"/>
                  <a:buAutoNum type="alphaLcParenR"/>
                </a:pPr>
                <a:r>
                  <a:rPr lang="zh-CN" altLang="en-US" dirty="0" smtClean="0"/>
                  <a:t>静态优先级：程序创建时指定的优先级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pPr marL="953262" lvl="1" indent="-514350">
                  <a:buFont typeface="+mj-lt"/>
                  <a:buAutoNum type="alphaLcParenR"/>
                </a:pPr>
                <a:r>
                  <a:rPr lang="zh-CN" altLang="en-US" dirty="0" smtClean="0"/>
                  <a:t>用户优先级。用户程序或者内核线程。</a:t>
                </a:r>
                <a:endParaRPr lang="en-US" altLang="zh-CN" dirty="0" smtClean="0"/>
              </a:p>
              <a:p>
                <a:pPr marL="953262" lvl="1" indent="-514350">
                  <a:buFont typeface="+mj-lt"/>
                  <a:buAutoNum type="alphaLcParenR"/>
                </a:pPr>
                <a:r>
                  <a:rPr lang="zh-CN" altLang="en-US" dirty="0" smtClean="0"/>
                  <a:t>窗口优先级。带有窗口的程序需要根据实际情况动态调整。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69B7AA9-8994-A65F-38DF-D7110D18CB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76" t="-2020" r="-10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567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任务创建栈布局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606041"/>
            <a:ext cx="5867400" cy="6880859"/>
          </a:xfrm>
        </p:spPr>
      </p:pic>
      <p:sp>
        <p:nvSpPr>
          <p:cNvPr id="5" name="文本框 4"/>
          <p:cNvSpPr txBox="1"/>
          <p:nvPr/>
        </p:nvSpPr>
        <p:spPr>
          <a:xfrm>
            <a:off x="4038600" y="2768600"/>
            <a:ext cx="25394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/>
              <a:t>图 </a:t>
            </a:r>
            <a:r>
              <a:rPr lang="en-US" altLang="zh-CN" sz="2000" dirty="0" smtClean="0"/>
              <a:t>4  </a:t>
            </a:r>
            <a:r>
              <a:rPr lang="zh-CN" altLang="en-US" sz="2000" dirty="0" smtClean="0"/>
              <a:t>任务创建栈布局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294232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D731-1C5F-8F05-00F5-DA41B19D1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25E0D9F-4893-9FCB-110D-BFC922EDF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0" y="274638"/>
            <a:ext cx="95250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 smtClean="0"/>
              <a:t>基于</a:t>
            </a:r>
            <a:r>
              <a:rPr lang="zh-CN" altLang="en-US" dirty="0"/>
              <a:t>神经网络</a:t>
            </a:r>
            <a:r>
              <a:rPr lang="zh-CN" altLang="en-US" dirty="0" smtClean="0"/>
              <a:t>的</a:t>
            </a:r>
            <a:r>
              <a:rPr lang="zh-CN" altLang="en-US" dirty="0"/>
              <a:t>任务调度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97958E9-4C05-A10D-42F8-47B0767F5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81300"/>
            <a:ext cx="17068800" cy="65532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神经网络用于任务调度预测。</a:t>
            </a:r>
            <a:r>
              <a:rPr lang="en-US" altLang="zh-CN" dirty="0" err="1"/>
              <a:t>libc</a:t>
            </a:r>
            <a:r>
              <a:rPr lang="zh-CN" altLang="en-US" dirty="0"/>
              <a:t>库的集成完善。</a:t>
            </a:r>
            <a:r>
              <a:rPr lang="en-US" altLang="zh-CN" dirty="0"/>
              <a:t>KANN</a:t>
            </a:r>
            <a:r>
              <a:rPr lang="zh-CN" altLang="en-US" dirty="0" smtClean="0"/>
              <a:t>库编译集成</a:t>
            </a:r>
            <a:r>
              <a:rPr lang="zh-CN" altLang="en-US" dirty="0"/>
              <a:t>。任务调度预测。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 smtClean="0"/>
              <a:t>模型</a:t>
            </a:r>
            <a:r>
              <a:rPr lang="zh-CN" altLang="en-US" dirty="0"/>
              <a:t>训练</a:t>
            </a:r>
            <a:r>
              <a:rPr lang="zh-CN" altLang="en-US" dirty="0" smtClean="0"/>
              <a:t>。</a:t>
            </a:r>
            <a:r>
              <a:rPr lang="zh-CN" altLang="en-US" dirty="0"/>
              <a:t>训练集、样本个数、线程数、特征向量、输出向量、隐藏层、损失函数等。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训练预测成功率</a:t>
            </a:r>
            <a:r>
              <a:rPr lang="zh-CN" altLang="en-US" dirty="0" smtClean="0"/>
              <a:t>。样本</a:t>
            </a:r>
            <a:r>
              <a:rPr lang="en-US" altLang="zh-CN" dirty="0"/>
              <a:t>4096</a:t>
            </a:r>
            <a:r>
              <a:rPr lang="zh-CN" altLang="en-US" dirty="0"/>
              <a:t>个及以上、线程</a:t>
            </a:r>
            <a:r>
              <a:rPr lang="en-US" altLang="zh-CN" dirty="0"/>
              <a:t>64</a:t>
            </a:r>
            <a:r>
              <a:rPr lang="zh-CN" altLang="en-US" dirty="0"/>
              <a:t>个及以下，训练预测平均成功率超</a:t>
            </a:r>
            <a:r>
              <a:rPr lang="en-US" altLang="zh-CN" dirty="0"/>
              <a:t>99</a:t>
            </a:r>
            <a:r>
              <a:rPr lang="en-US" altLang="zh-CN" dirty="0" smtClean="0"/>
              <a:t>%</a:t>
            </a:r>
            <a:r>
              <a:rPr lang="zh-CN" altLang="en-US" dirty="0" smtClean="0"/>
              <a:t>。</a:t>
            </a:r>
            <a:r>
              <a:rPr lang="zh-CN" altLang="en-US" dirty="0"/>
              <a:t>实际</a:t>
            </a:r>
            <a:r>
              <a:rPr lang="zh-CN" altLang="en-US" dirty="0" smtClean="0"/>
              <a:t>场景</a:t>
            </a:r>
            <a:r>
              <a:rPr lang="zh-CN" altLang="en-US" dirty="0"/>
              <a:t>下</a:t>
            </a:r>
            <a:r>
              <a:rPr lang="zh-CN" altLang="en-US" dirty="0" smtClean="0"/>
              <a:t>，</a:t>
            </a:r>
            <a:r>
              <a:rPr lang="en-US" altLang="zh-CN" dirty="0"/>
              <a:t>TOP2</a:t>
            </a:r>
            <a:r>
              <a:rPr lang="zh-CN" altLang="en-US" dirty="0"/>
              <a:t>平均准确率超</a:t>
            </a:r>
            <a:r>
              <a:rPr lang="en-US" altLang="zh-CN" dirty="0"/>
              <a:t>90%</a:t>
            </a:r>
            <a:r>
              <a:rPr lang="zh-CN" altLang="en-US" dirty="0"/>
              <a:t>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实际场景下的模型预测与数据</a:t>
            </a:r>
            <a:r>
              <a:rPr lang="zh-CN" altLang="en-US" dirty="0" smtClean="0"/>
              <a:t>收集、模型</a:t>
            </a:r>
            <a:r>
              <a:rPr lang="zh-CN" altLang="en-US" dirty="0"/>
              <a:t>改进。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神经网络和任务调度的融合。基于优先级的</a:t>
            </a:r>
            <a:r>
              <a:rPr lang="zh-CN" altLang="en-US" dirty="0" smtClean="0"/>
              <a:t>、神经网络模型预测</a:t>
            </a:r>
            <a:r>
              <a:rPr lang="zh-CN" altLang="en-US" dirty="0"/>
              <a:t>任务调度算法实现。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19714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 smtClean="0"/>
              <a:t>神经网络开源库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5129711"/>
              </p:ext>
            </p:extLst>
          </p:nvPr>
        </p:nvGraphicFramePr>
        <p:xfrm>
          <a:off x="1655291" y="3509068"/>
          <a:ext cx="15069494" cy="53682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27183">
                  <a:extLst>
                    <a:ext uri="{9D8B030D-6E8A-4147-A177-3AD203B41FA5}">
                      <a16:colId xmlns:a16="http://schemas.microsoft.com/office/drawing/2014/main" val="935960598"/>
                    </a:ext>
                  </a:extLst>
                </a:gridCol>
                <a:gridCol w="1214601">
                  <a:extLst>
                    <a:ext uri="{9D8B030D-6E8A-4147-A177-3AD203B41FA5}">
                      <a16:colId xmlns:a16="http://schemas.microsoft.com/office/drawing/2014/main" val="215735550"/>
                    </a:ext>
                  </a:extLst>
                </a:gridCol>
                <a:gridCol w="2944579">
                  <a:extLst>
                    <a:ext uri="{9D8B030D-6E8A-4147-A177-3AD203B41FA5}">
                      <a16:colId xmlns:a16="http://schemas.microsoft.com/office/drawing/2014/main" val="827850360"/>
                    </a:ext>
                  </a:extLst>
                </a:gridCol>
                <a:gridCol w="2944579">
                  <a:extLst>
                    <a:ext uri="{9D8B030D-6E8A-4147-A177-3AD203B41FA5}">
                      <a16:colId xmlns:a16="http://schemas.microsoft.com/office/drawing/2014/main" val="1671162311"/>
                    </a:ext>
                  </a:extLst>
                </a:gridCol>
                <a:gridCol w="2938552">
                  <a:extLst>
                    <a:ext uri="{9D8B030D-6E8A-4147-A177-3AD203B41FA5}">
                      <a16:colId xmlns:a16="http://schemas.microsoft.com/office/drawing/2014/main" val="838245943"/>
                    </a:ext>
                  </a:extLst>
                </a:gridCol>
              </a:tblGrid>
              <a:tr h="1079373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名称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KANN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FANN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ALEXNET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LIBONNX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44236943"/>
                  </a:ext>
                </a:extLst>
              </a:tr>
              <a:tr h="10698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C</a:t>
                      </a:r>
                      <a:r>
                        <a:rPr lang="zh-CN" sz="2000" kern="100" dirty="0">
                          <a:effectLst/>
                        </a:rPr>
                        <a:t>语言支持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是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是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是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是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7148269"/>
                  </a:ext>
                </a:extLst>
              </a:tr>
              <a:tr h="10698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支持</a:t>
                      </a:r>
                      <a:r>
                        <a:rPr lang="en-US" sz="2000" kern="100" dirty="0">
                          <a:effectLst/>
                        </a:rPr>
                        <a:t>MLP/RNN/CNN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是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是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仅</a:t>
                      </a:r>
                      <a:r>
                        <a:rPr lang="en-US" sz="2000" kern="100" dirty="0">
                          <a:effectLst/>
                        </a:rPr>
                        <a:t>CNN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是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04824828"/>
                  </a:ext>
                </a:extLst>
              </a:tr>
              <a:tr h="10698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支持</a:t>
                      </a:r>
                      <a:r>
                        <a:rPr lang="en-US" sz="2000" kern="100" dirty="0">
                          <a:effectLst/>
                        </a:rPr>
                        <a:t>CPU</a:t>
                      </a:r>
                      <a:r>
                        <a:rPr lang="zh-CN" sz="2000" kern="100" dirty="0">
                          <a:effectLst/>
                        </a:rPr>
                        <a:t>训练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是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否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</a:rPr>
                        <a:t>是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否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47165106"/>
                  </a:ext>
                </a:extLst>
              </a:tr>
              <a:tr h="1079373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浮点运算支持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FPU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AVX512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AVX512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FPU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20188287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27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表</a:t>
            </a:r>
            <a:r>
              <a:rPr kumimoji="0" lang="zh-CN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等线 Light" panose="02010600030101010101" pitchFamily="2" charset="-122"/>
                <a:ea typeface="等线 Light" panose="02010600030101010101" pitchFamily="2" charset="-122"/>
                <a:cs typeface="Times New Roman" panose="02020603050405020304" pitchFamily="18" charset="0"/>
              </a:rPr>
              <a:t>0‑1 </a:t>
            </a:r>
            <a:r>
              <a:rPr kumimoji="0" lang="zh-CN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开源神经网络库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28800" y="2857500"/>
            <a:ext cx="449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/>
              <a:t>表 </a:t>
            </a:r>
            <a:r>
              <a:rPr lang="en-US" altLang="zh-CN" sz="2000" dirty="0" smtClean="0"/>
              <a:t>1  </a:t>
            </a:r>
            <a:r>
              <a:rPr lang="zh-CN" altLang="en-US" sz="2000" dirty="0" smtClean="0"/>
              <a:t>开源神经网络库选择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805384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2D9BC-CDCF-B474-D722-CD56BC840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87F1FA7-F66C-E379-FC3D-1421368D0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400" y="274638"/>
            <a:ext cx="9296400" cy="114300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模型训练预测准确率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879E6DC-545D-EE1A-DDB1-1E13A23AD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781300"/>
            <a:ext cx="17449800" cy="6553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	</a:t>
            </a:r>
          </a:p>
          <a:p>
            <a:pPr marL="0" indent="0">
              <a:buNone/>
            </a:pPr>
            <a:r>
              <a:rPr lang="en-US" altLang="zh-CN" sz="2000" dirty="0"/>
              <a:t>			</a:t>
            </a:r>
            <a:r>
              <a:rPr lang="zh-CN" altLang="en-US" sz="2000" dirty="0"/>
              <a:t>表 </a:t>
            </a:r>
            <a:r>
              <a:rPr lang="en-US" altLang="zh-CN" sz="2000" dirty="0"/>
              <a:t>1  </a:t>
            </a:r>
            <a:r>
              <a:rPr lang="zh-CN" altLang="en-US" sz="2000" dirty="0"/>
              <a:t>模型训练时在不同线程数和采样点时的预测成功率</a:t>
            </a:r>
            <a:endParaRPr lang="en-US" altLang="zh-CN" sz="2000" dirty="0"/>
          </a:p>
          <a:p>
            <a:pPr marL="0" indent="0" algn="ctr">
              <a:buNone/>
            </a:pPr>
            <a:r>
              <a:rPr lang="en-US" altLang="zh-CN" dirty="0"/>
              <a:t> </a:t>
            </a:r>
            <a:r>
              <a:rPr lang="zh-CN" altLang="en-US" dirty="0"/>
              <a:t>  </a:t>
            </a:r>
            <a:endParaRPr lang="en-US" altLang="zh-CN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9C176800-81B4-0FA7-6EB4-B976058E01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806718"/>
              </p:ext>
            </p:extLst>
          </p:nvPr>
        </p:nvGraphicFramePr>
        <p:xfrm>
          <a:off x="3505200" y="4152900"/>
          <a:ext cx="12070081" cy="44957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15709">
                  <a:extLst>
                    <a:ext uri="{9D8B030D-6E8A-4147-A177-3AD203B41FA5}">
                      <a16:colId xmlns:a16="http://schemas.microsoft.com/office/drawing/2014/main" val="1727373371"/>
                    </a:ext>
                  </a:extLst>
                </a:gridCol>
                <a:gridCol w="3018124">
                  <a:extLst>
                    <a:ext uri="{9D8B030D-6E8A-4147-A177-3AD203B41FA5}">
                      <a16:colId xmlns:a16="http://schemas.microsoft.com/office/drawing/2014/main" val="1349904545"/>
                    </a:ext>
                  </a:extLst>
                </a:gridCol>
                <a:gridCol w="3018124">
                  <a:extLst>
                    <a:ext uri="{9D8B030D-6E8A-4147-A177-3AD203B41FA5}">
                      <a16:colId xmlns:a16="http://schemas.microsoft.com/office/drawing/2014/main" val="2186635126"/>
                    </a:ext>
                  </a:extLst>
                </a:gridCol>
                <a:gridCol w="3018124">
                  <a:extLst>
                    <a:ext uri="{9D8B030D-6E8A-4147-A177-3AD203B41FA5}">
                      <a16:colId xmlns:a16="http://schemas.microsoft.com/office/drawing/2014/main" val="2166537738"/>
                    </a:ext>
                  </a:extLst>
                </a:gridCol>
              </a:tblGrid>
              <a:tr h="893463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线程数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  <a:tabLst>
                          <a:tab pos="1210945" algn="r"/>
                        </a:tabLst>
                      </a:pP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样本数</a:t>
                      </a: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4096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样本数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8192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样本数</a:t>
                      </a: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16384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21766097"/>
                  </a:ext>
                </a:extLst>
              </a:tr>
              <a:tr h="900584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99.6%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99.3%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99.4%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2770088"/>
                  </a:ext>
                </a:extLst>
              </a:tr>
              <a:tr h="900584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99.2%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97.7%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95.1%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30208311"/>
                  </a:ext>
                </a:extLst>
              </a:tr>
              <a:tr h="900584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99.7%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94.6%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92.2%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54771561"/>
                  </a:ext>
                </a:extLst>
              </a:tr>
              <a:tr h="900584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128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99.3%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92.6%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90.6%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99489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7962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BC78BF-7249-745D-D889-F50E7859A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神经</a:t>
            </a:r>
            <a:r>
              <a:rPr lang="zh-CN" altLang="en-US" dirty="0" smtClean="0"/>
              <a:t>网络</a:t>
            </a:r>
            <a:r>
              <a:rPr lang="zh-CN" altLang="en-US" dirty="0"/>
              <a:t>和其他调度比较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9FD076-E5BD-F2C1-3C13-ECDF4C4DE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调试</a:t>
            </a:r>
            <a:r>
              <a:rPr lang="zh-CN" altLang="en-US" dirty="0"/>
              <a:t>环境下，基于优先级的任务调度</a:t>
            </a:r>
            <a:r>
              <a:rPr lang="zh-CN" altLang="en-US" dirty="0" smtClean="0"/>
              <a:t>开销约</a:t>
            </a:r>
            <a:r>
              <a:rPr lang="zh-CN" altLang="en-US" dirty="0"/>
              <a:t>为</a:t>
            </a:r>
            <a:r>
              <a:rPr lang="en-US" altLang="zh-CN" dirty="0"/>
              <a:t>200-500</a:t>
            </a:r>
            <a:r>
              <a:rPr lang="zh-CN" altLang="en-US" dirty="0"/>
              <a:t>微秒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/>
              <a:t>从测试结果看，</a:t>
            </a:r>
            <a:r>
              <a:rPr lang="en-US" altLang="zh-CN" dirty="0"/>
              <a:t>MLP</a:t>
            </a:r>
            <a:r>
              <a:rPr lang="zh-CN" altLang="en-US" dirty="0"/>
              <a:t>准确率和</a:t>
            </a:r>
            <a:r>
              <a:rPr lang="en-US" altLang="zh-CN" dirty="0"/>
              <a:t>LSTM</a:t>
            </a:r>
            <a:r>
              <a:rPr lang="zh-CN" altLang="en-US" dirty="0"/>
              <a:t>差别不大，但是速度差异非常大，</a:t>
            </a:r>
            <a:r>
              <a:rPr lang="en-US" altLang="zh-CN" dirty="0"/>
              <a:t>MLP</a:t>
            </a:r>
            <a:r>
              <a:rPr lang="zh-CN" altLang="en-US" dirty="0"/>
              <a:t>训练取决于</a:t>
            </a:r>
            <a:r>
              <a:rPr lang="en-US" altLang="zh-CN" dirty="0"/>
              <a:t>CPU</a:t>
            </a:r>
            <a:r>
              <a:rPr lang="zh-CN" altLang="en-US" dirty="0"/>
              <a:t>频率，实际测试值在</a:t>
            </a:r>
            <a:r>
              <a:rPr lang="en-US" altLang="zh-CN" dirty="0"/>
              <a:t>10</a:t>
            </a:r>
            <a:r>
              <a:rPr lang="zh-CN" altLang="en-US" dirty="0"/>
              <a:t>秒</a:t>
            </a:r>
            <a:r>
              <a:rPr lang="en-US" altLang="zh-CN" dirty="0"/>
              <a:t>-10</a:t>
            </a:r>
            <a:r>
              <a:rPr lang="zh-CN" altLang="en-US" dirty="0"/>
              <a:t>分钟，而</a:t>
            </a:r>
            <a:r>
              <a:rPr lang="en-US" altLang="zh-CN" dirty="0" smtClean="0"/>
              <a:t>LSTM</a:t>
            </a:r>
            <a:r>
              <a:rPr lang="zh-CN" altLang="en-US" dirty="0" smtClean="0"/>
              <a:t>非常慢，通常在</a:t>
            </a:r>
            <a:r>
              <a:rPr lang="zh-CN" altLang="en-US" dirty="0"/>
              <a:t>几小时以上。</a:t>
            </a:r>
            <a:endParaRPr lang="en-US" altLang="zh-CN" dirty="0"/>
          </a:p>
          <a:p>
            <a:r>
              <a:rPr lang="zh-CN" altLang="en-US" dirty="0"/>
              <a:t>为了更加广泛的反映线程的优先级，调度模型增加了内存分配、</a:t>
            </a:r>
            <a:r>
              <a:rPr lang="en-US" altLang="zh-CN" dirty="0"/>
              <a:t>I/O</a:t>
            </a:r>
            <a:r>
              <a:rPr lang="zh-CN" altLang="en-US" dirty="0"/>
              <a:t>读写、休眠</a:t>
            </a:r>
            <a:r>
              <a:rPr lang="zh-CN" altLang="en-US" dirty="0" smtClean="0"/>
              <a:t>时间、鼠标键盘频率等</a:t>
            </a:r>
            <a:r>
              <a:rPr lang="zh-CN" altLang="en-US" dirty="0"/>
              <a:t>因子</a:t>
            </a:r>
            <a:r>
              <a:rPr lang="zh-CN" altLang="en-US" dirty="0" smtClean="0"/>
              <a:t>，训练数据输入特征扩充到</a:t>
            </a:r>
            <a:r>
              <a:rPr lang="en-US" altLang="zh-CN" dirty="0" smtClean="0"/>
              <a:t>15</a:t>
            </a:r>
            <a:r>
              <a:rPr lang="zh-CN" altLang="en-US" dirty="0" smtClean="0"/>
              <a:t>维，扩充</a:t>
            </a:r>
            <a:r>
              <a:rPr lang="zh-CN" altLang="en-US" dirty="0" smtClean="0"/>
              <a:t>了调度因素的</a:t>
            </a:r>
            <a:r>
              <a:rPr lang="zh-CN" altLang="en-US" dirty="0"/>
              <a:t>范围</a:t>
            </a:r>
            <a:r>
              <a:rPr lang="zh-CN" altLang="en-US" dirty="0" smtClean="0"/>
              <a:t>。相对于</a:t>
            </a:r>
            <a:r>
              <a:rPr lang="zh-CN" altLang="en-US" dirty="0"/>
              <a:t>传统调度</a:t>
            </a:r>
            <a:r>
              <a:rPr lang="zh-CN" altLang="en-US" dirty="0" smtClean="0"/>
              <a:t>，基于神经网络的调度</a:t>
            </a:r>
            <a:r>
              <a:rPr lang="zh-CN" altLang="en-US" dirty="0"/>
              <a:t>具有很强的可扩展性和适应性。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92760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4BBC35-8332-7275-3B2A-0F94A6838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神经</a:t>
            </a:r>
            <a:r>
              <a:rPr lang="zh-CN" altLang="en-US" dirty="0" smtClean="0"/>
              <a:t>网络</a:t>
            </a:r>
            <a:r>
              <a:rPr lang="zh-CN" altLang="en-US" dirty="0"/>
              <a:t>和其他调度比较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A1282F0D-5334-B7A5-5B53-AC0C6347BE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1122347"/>
              </p:ext>
            </p:extLst>
          </p:nvPr>
        </p:nvGraphicFramePr>
        <p:xfrm>
          <a:off x="2903094" y="3065741"/>
          <a:ext cx="13708506" cy="60968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70088">
                  <a:extLst>
                    <a:ext uri="{9D8B030D-6E8A-4147-A177-3AD203B41FA5}">
                      <a16:colId xmlns:a16="http://schemas.microsoft.com/office/drawing/2014/main" val="2879753797"/>
                    </a:ext>
                  </a:extLst>
                </a:gridCol>
                <a:gridCol w="2574203">
                  <a:extLst>
                    <a:ext uri="{9D8B030D-6E8A-4147-A177-3AD203B41FA5}">
                      <a16:colId xmlns:a16="http://schemas.microsoft.com/office/drawing/2014/main" val="2946277000"/>
                    </a:ext>
                  </a:extLst>
                </a:gridCol>
                <a:gridCol w="2650919">
                  <a:extLst>
                    <a:ext uri="{9D8B030D-6E8A-4147-A177-3AD203B41FA5}">
                      <a16:colId xmlns:a16="http://schemas.microsoft.com/office/drawing/2014/main" val="1825668613"/>
                    </a:ext>
                  </a:extLst>
                </a:gridCol>
                <a:gridCol w="1832288">
                  <a:extLst>
                    <a:ext uri="{9D8B030D-6E8A-4147-A177-3AD203B41FA5}">
                      <a16:colId xmlns:a16="http://schemas.microsoft.com/office/drawing/2014/main" val="345804467"/>
                    </a:ext>
                  </a:extLst>
                </a:gridCol>
                <a:gridCol w="2187069">
                  <a:extLst>
                    <a:ext uri="{9D8B030D-6E8A-4147-A177-3AD203B41FA5}">
                      <a16:colId xmlns:a16="http://schemas.microsoft.com/office/drawing/2014/main" val="1907669132"/>
                    </a:ext>
                  </a:extLst>
                </a:gridCol>
                <a:gridCol w="1893939">
                  <a:extLst>
                    <a:ext uri="{9D8B030D-6E8A-4147-A177-3AD203B41FA5}">
                      <a16:colId xmlns:a16="http://schemas.microsoft.com/office/drawing/2014/main" val="4046380999"/>
                    </a:ext>
                  </a:extLst>
                </a:gridCol>
              </a:tblGrid>
              <a:tr h="1009434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</a:rPr>
                        <a:t>预测方法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</a:rPr>
                        <a:t>训练成功率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</a:rPr>
                        <a:t>实际</a:t>
                      </a:r>
                      <a:r>
                        <a:rPr lang="en-US" sz="2000" kern="100" dirty="0">
                          <a:effectLst/>
                        </a:rPr>
                        <a:t>TOP1</a:t>
                      </a:r>
                      <a:r>
                        <a:rPr lang="zh-CN" sz="2000" kern="100" dirty="0">
                          <a:effectLst/>
                        </a:rPr>
                        <a:t>准确率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</a:rPr>
                        <a:t>推理开销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训练时间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复杂条件调度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1622799"/>
                  </a:ext>
                </a:extLst>
              </a:tr>
              <a:tr h="1017480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</a:rPr>
                        <a:t>传统</a:t>
                      </a:r>
                      <a:r>
                        <a:rPr lang="zh-CN" altLang="en-US" sz="2000" kern="100" dirty="0">
                          <a:effectLst/>
                        </a:rPr>
                        <a:t>优先级</a:t>
                      </a:r>
                      <a:r>
                        <a:rPr lang="zh-CN" sz="2000" kern="100" dirty="0">
                          <a:effectLst/>
                        </a:rPr>
                        <a:t>调度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 ---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--- 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</a:rPr>
                        <a:t>基准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---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69841576"/>
                  </a:ext>
                </a:extLst>
              </a:tr>
              <a:tr h="1017480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MLP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99%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83%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</a:rPr>
                        <a:t>低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秒</a:t>
                      </a: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-10</a:t>
                      </a: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分钟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35102737"/>
                  </a:ext>
                </a:extLst>
              </a:tr>
              <a:tr h="1017480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LSTM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98%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</a:rPr>
                        <a:t>78%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很</a:t>
                      </a:r>
                      <a:r>
                        <a:rPr lang="zh-CN" sz="2000" kern="100" dirty="0">
                          <a:effectLst/>
                        </a:rPr>
                        <a:t>高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几小时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83030791"/>
                  </a:ext>
                </a:extLst>
              </a:tr>
              <a:tr h="1017480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预测和传统融合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99%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83%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秒</a:t>
                      </a: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-10</a:t>
                      </a: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分钟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31226355"/>
                  </a:ext>
                </a:extLst>
              </a:tr>
              <a:tr h="1017480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RR</a:t>
                      </a: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轮转调度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---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---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---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1194314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8B6D954-A72B-2275-BA68-DA52FA4D3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585520-8C54-B51A-F28A-0ED81143E542}"/>
              </a:ext>
            </a:extLst>
          </p:cNvPr>
          <p:cNvSpPr txBox="1"/>
          <p:nvPr/>
        </p:nvSpPr>
        <p:spPr>
          <a:xfrm>
            <a:off x="2895600" y="2635836"/>
            <a:ext cx="388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表 </a:t>
            </a:r>
            <a:r>
              <a:rPr lang="en-US" altLang="zh-CN" sz="2000" dirty="0">
                <a:latin typeface="+mn-ea"/>
              </a:rPr>
              <a:t>3 </a:t>
            </a:r>
            <a:r>
              <a:rPr lang="zh-CN" altLang="en-US" sz="2000" dirty="0">
                <a:latin typeface="+mn-ea"/>
              </a:rPr>
              <a:t>神经</a:t>
            </a:r>
            <a:r>
              <a:rPr lang="zh-CN" altLang="en-US" sz="2000" dirty="0" smtClean="0">
                <a:latin typeface="+mn-ea"/>
              </a:rPr>
              <a:t>网络</a:t>
            </a:r>
            <a:r>
              <a:rPr lang="zh-CN" altLang="en-US" sz="2000" dirty="0">
                <a:latin typeface="+mn-ea"/>
              </a:rPr>
              <a:t>和</a:t>
            </a:r>
            <a:r>
              <a:rPr lang="en-US" altLang="zh-CN" sz="2000" dirty="0">
                <a:latin typeface="+mn-ea"/>
              </a:rPr>
              <a:t>LSTM</a:t>
            </a:r>
            <a:r>
              <a:rPr lang="zh-CN" altLang="en-US" sz="2000" dirty="0">
                <a:latin typeface="+mn-ea"/>
              </a:rPr>
              <a:t>网络比较</a:t>
            </a:r>
          </a:p>
        </p:txBody>
      </p:sp>
    </p:spTree>
    <p:extLst>
      <p:ext uri="{BB962C8B-B14F-4D97-AF65-F5344CB8AC3E}">
        <p14:creationId xmlns:p14="http://schemas.microsoft.com/office/powerpoint/2010/main" val="88997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F0961B-4CFD-A9B7-6495-845AC323B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模型训练预测准确率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4AB204-50A5-B540-A36E-888854AC4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MLP</a:t>
            </a:r>
            <a:r>
              <a:rPr lang="zh-CN" altLang="en-US" dirty="0" smtClean="0"/>
              <a:t>网络</a:t>
            </a:r>
            <a:r>
              <a:rPr lang="zh-CN" altLang="en-US" dirty="0"/>
              <a:t>训练准确率一般高于</a:t>
            </a:r>
            <a:r>
              <a:rPr lang="en-US" altLang="zh-CN" dirty="0"/>
              <a:t>99%</a:t>
            </a:r>
            <a:r>
              <a:rPr lang="zh-CN" altLang="en-US" dirty="0"/>
              <a:t>。原因在于，基于优先级的传统调度，其最大权重为动态优先级、交互优先级、静态优先级等少数要素，在老化机制的作用下，调度结果高度可预测。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19441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0AFF3-C235-A677-A146-7EF1FBD61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9E78F57-927F-4198-002D-5E45B9291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274638"/>
            <a:ext cx="12573000" cy="114300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模型真实预测准确率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5ED4126-7988-9605-6299-F5C3D2669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05100"/>
            <a:ext cx="17068800" cy="66294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0" indent="0">
              <a:buNone/>
            </a:pPr>
            <a:r>
              <a:rPr lang="en-US" altLang="zh-CN" sz="2000" dirty="0"/>
              <a:t>		</a:t>
            </a:r>
            <a:r>
              <a:rPr lang="zh-CN" altLang="en-US" sz="2000" dirty="0"/>
              <a:t>表 </a:t>
            </a:r>
            <a:r>
              <a:rPr lang="en-US" altLang="zh-CN" sz="2000" dirty="0" smtClean="0"/>
              <a:t>4 </a:t>
            </a:r>
            <a:r>
              <a:rPr lang="zh-CN" altLang="en-US" sz="2000" dirty="0"/>
              <a:t>模型真实预测准确率</a:t>
            </a:r>
            <a:endParaRPr lang="en-US" altLang="zh-CN" sz="2000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1DD275F-D61C-951D-02DB-F02F98177E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334351"/>
              </p:ext>
            </p:extLst>
          </p:nvPr>
        </p:nvGraphicFramePr>
        <p:xfrm>
          <a:off x="2362200" y="4076700"/>
          <a:ext cx="13258800" cy="50292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50806">
                  <a:extLst>
                    <a:ext uri="{9D8B030D-6E8A-4147-A177-3AD203B41FA5}">
                      <a16:colId xmlns:a16="http://schemas.microsoft.com/office/drawing/2014/main" val="4122296269"/>
                    </a:ext>
                  </a:extLst>
                </a:gridCol>
                <a:gridCol w="2650806">
                  <a:extLst>
                    <a:ext uri="{9D8B030D-6E8A-4147-A177-3AD203B41FA5}">
                      <a16:colId xmlns:a16="http://schemas.microsoft.com/office/drawing/2014/main" val="2856161881"/>
                    </a:ext>
                  </a:extLst>
                </a:gridCol>
                <a:gridCol w="2652396">
                  <a:extLst>
                    <a:ext uri="{9D8B030D-6E8A-4147-A177-3AD203B41FA5}">
                      <a16:colId xmlns:a16="http://schemas.microsoft.com/office/drawing/2014/main" val="1947312273"/>
                    </a:ext>
                  </a:extLst>
                </a:gridCol>
                <a:gridCol w="2652396">
                  <a:extLst>
                    <a:ext uri="{9D8B030D-6E8A-4147-A177-3AD203B41FA5}">
                      <a16:colId xmlns:a16="http://schemas.microsoft.com/office/drawing/2014/main" val="3470154881"/>
                    </a:ext>
                  </a:extLst>
                </a:gridCol>
                <a:gridCol w="2652396">
                  <a:extLst>
                    <a:ext uri="{9D8B030D-6E8A-4147-A177-3AD203B41FA5}">
                      <a16:colId xmlns:a16="http://schemas.microsoft.com/office/drawing/2014/main" val="725319965"/>
                    </a:ext>
                  </a:extLst>
                </a:gridCol>
              </a:tblGrid>
              <a:tr h="453911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TOP1</a:t>
                      </a: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命中次数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TOP2</a:t>
                      </a: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命中次数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采样次数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TOP1</a:t>
                      </a: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准确率（</a:t>
                      </a: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%</a:t>
                      </a: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）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TOP2</a:t>
                      </a: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准确率（</a:t>
                      </a: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%</a:t>
                      </a: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）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74858087"/>
                  </a:ext>
                </a:extLst>
              </a:tr>
              <a:tr h="4575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0xdec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0x158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0x1000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87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95.4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20508756"/>
                  </a:ext>
                </a:extLst>
              </a:tr>
              <a:tr h="4575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0xcdf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0x21e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0x1000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80.4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93.7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22359911"/>
                  </a:ext>
                </a:extLst>
              </a:tr>
              <a:tr h="4575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0xc69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0x236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0x1000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79.7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93.5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76678069"/>
                  </a:ext>
                </a:extLst>
              </a:tr>
              <a:tr h="4575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0xd38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0x262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0x1000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82.6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97.5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44841325"/>
                  </a:ext>
                </a:extLst>
              </a:tr>
              <a:tr h="4575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0xc94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0x312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0x1000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78.6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97.8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50725889"/>
                  </a:ext>
                </a:extLst>
              </a:tr>
              <a:tr h="4575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0xc86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0x348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0x1000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78.3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98.8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05806865"/>
                  </a:ext>
                </a:extLst>
              </a:tr>
              <a:tr h="4575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0xd97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0x247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0x1000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84.9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99.2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43922478"/>
                  </a:ext>
                </a:extLst>
              </a:tr>
              <a:tr h="4575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0xe28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0x1b9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0x1000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88.5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99.3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44998605"/>
                  </a:ext>
                </a:extLst>
              </a:tr>
              <a:tr h="4575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0xcde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0x21e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0x1000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80.4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93.6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3414261"/>
                  </a:ext>
                </a:extLst>
              </a:tr>
              <a:tr h="45752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0xcbe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0x209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0x1000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79.6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92.4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83715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123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47D1F-5023-700F-C69F-1AB295ADD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E84C307-EDE1-C7B6-E62E-7773E4519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274638"/>
            <a:ext cx="125730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/>
              <a:t>神经网络</a:t>
            </a:r>
            <a:r>
              <a:rPr lang="zh-CN" altLang="en-US" dirty="0" smtClean="0"/>
              <a:t>与</a:t>
            </a:r>
            <a:r>
              <a:rPr lang="zh-CN" altLang="en-US" dirty="0"/>
              <a:t>任务调度的融合改进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E6DE891-1DE7-FEC0-9B68-7D0B37C26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05100"/>
            <a:ext cx="17068800" cy="66294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 smtClean="0"/>
              <a:t>神经网络和</a:t>
            </a:r>
            <a:r>
              <a:rPr lang="zh-CN" altLang="en-US" dirty="0"/>
              <a:t>任务调度统合算法的实现。</a:t>
            </a:r>
            <a:endParaRPr lang="en-US" altLang="zh-CN" dirty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 smtClean="0"/>
              <a:t>将神经网络预测结果作为</a:t>
            </a:r>
            <a:r>
              <a:rPr lang="zh-CN" altLang="en-US" dirty="0"/>
              <a:t>优先级因子的调度算法实现。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优先级预测缓存机制的实现。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 smtClean="0"/>
              <a:t>训练</a:t>
            </a:r>
            <a:r>
              <a:rPr lang="zh-CN" altLang="en-US" dirty="0" smtClean="0"/>
              <a:t>和使用时，调度</a:t>
            </a:r>
            <a:r>
              <a:rPr lang="zh-CN" altLang="en-US" dirty="0" smtClean="0"/>
              <a:t>成功率</a:t>
            </a:r>
            <a:r>
              <a:rPr lang="zh-CN" altLang="en-US" dirty="0"/>
              <a:t>统计分析、模型改进。实际场景下，调度开销减少</a:t>
            </a:r>
            <a:r>
              <a:rPr lang="en-US" altLang="zh-CN" dirty="0"/>
              <a:t>30%-50%</a:t>
            </a:r>
            <a:r>
              <a:rPr lang="zh-CN" altLang="en-US" dirty="0"/>
              <a:t>，最高超过</a:t>
            </a:r>
            <a:r>
              <a:rPr lang="en-US" altLang="zh-CN" dirty="0"/>
              <a:t>80%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0840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C14ED1-3DFE-4BA8-53EC-B1AC7DD24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预测缓存和传统调度耗时比较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C07DD8-6359-7204-ABED-88A6423F8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测试证明，</a:t>
            </a:r>
            <a:r>
              <a:rPr lang="zh-CN" altLang="en-US" dirty="0"/>
              <a:t>模型预测缓存方式，跟传统的基于</a:t>
            </a:r>
            <a:r>
              <a:rPr lang="zh-CN" altLang="en-US" dirty="0" smtClean="0"/>
              <a:t>优先级</a:t>
            </a:r>
            <a:r>
              <a:rPr lang="zh-CN" altLang="en-US" dirty="0"/>
              <a:t>调度</a:t>
            </a:r>
            <a:r>
              <a:rPr lang="zh-CN" altLang="en-US" dirty="0" smtClean="0"/>
              <a:t>方法</a:t>
            </a:r>
            <a:r>
              <a:rPr lang="zh-CN" altLang="en-US" dirty="0"/>
              <a:t>相比，时间消耗减少</a:t>
            </a:r>
            <a:r>
              <a:rPr lang="en-US" altLang="zh-CN" dirty="0"/>
              <a:t>30%-50%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 smtClean="0"/>
              <a:t>优先级加权跟</a:t>
            </a:r>
            <a:r>
              <a:rPr lang="zh-CN" altLang="en-US" dirty="0"/>
              <a:t>优先级</a:t>
            </a:r>
            <a:r>
              <a:rPr lang="zh-CN" altLang="en-US" dirty="0" smtClean="0"/>
              <a:t>要素的权重线性相关，</a:t>
            </a:r>
            <a:r>
              <a:rPr lang="zh-CN" altLang="en-US" dirty="0"/>
              <a:t>在带有老化机制的优先级调度机制下，可实现完全替代。</a:t>
            </a:r>
          </a:p>
        </p:txBody>
      </p:sp>
    </p:spTree>
    <p:extLst>
      <p:ext uri="{BB962C8B-B14F-4D97-AF65-F5344CB8AC3E}">
        <p14:creationId xmlns:p14="http://schemas.microsoft.com/office/powerpoint/2010/main" val="1068557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3BFAEB-2D5E-B4A4-CF16-CC0EB58C8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预测缓存和传统调度计时比较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C8EA6BE0-86DB-AD25-358D-48E00BF5C5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0187011"/>
              </p:ext>
            </p:extLst>
          </p:nvPr>
        </p:nvGraphicFramePr>
        <p:xfrm>
          <a:off x="2057400" y="3880354"/>
          <a:ext cx="14676440" cy="51210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70211">
                  <a:extLst>
                    <a:ext uri="{9D8B030D-6E8A-4147-A177-3AD203B41FA5}">
                      <a16:colId xmlns:a16="http://schemas.microsoft.com/office/drawing/2014/main" val="4268053231"/>
                    </a:ext>
                  </a:extLst>
                </a:gridCol>
                <a:gridCol w="3670211">
                  <a:extLst>
                    <a:ext uri="{9D8B030D-6E8A-4147-A177-3AD203B41FA5}">
                      <a16:colId xmlns:a16="http://schemas.microsoft.com/office/drawing/2014/main" val="3695901421"/>
                    </a:ext>
                  </a:extLst>
                </a:gridCol>
                <a:gridCol w="3668009">
                  <a:extLst>
                    <a:ext uri="{9D8B030D-6E8A-4147-A177-3AD203B41FA5}">
                      <a16:colId xmlns:a16="http://schemas.microsoft.com/office/drawing/2014/main" val="1395096291"/>
                    </a:ext>
                  </a:extLst>
                </a:gridCol>
                <a:gridCol w="3668009">
                  <a:extLst>
                    <a:ext uri="{9D8B030D-6E8A-4147-A177-3AD203B41FA5}">
                      <a16:colId xmlns:a16="http://schemas.microsoft.com/office/drawing/2014/main" val="3818138871"/>
                    </a:ext>
                  </a:extLst>
                </a:gridCol>
              </a:tblGrid>
              <a:tr h="450346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+mn-ea"/>
                          <a:ea typeface="+mn-ea"/>
                        </a:rPr>
                        <a:t>传统调度平均耗时</a:t>
                      </a: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zh-CN" sz="2000" kern="100" dirty="0" err="1">
                          <a:effectLst/>
                          <a:latin typeface="+mn-ea"/>
                          <a:ea typeface="+mn-ea"/>
                        </a:rPr>
                        <a:t>rdtsc</a:t>
                      </a:r>
                      <a:r>
                        <a:rPr lang="zh-CN" altLang="en-US" sz="2000" kern="100" dirty="0">
                          <a:effectLst/>
                          <a:latin typeface="+mn-ea"/>
                          <a:ea typeface="+mn-ea"/>
                        </a:rPr>
                        <a:t>计数值</a:t>
                      </a: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+mn-ea"/>
                          <a:ea typeface="+mn-ea"/>
                        </a:rPr>
                        <a:t>缓存方式平均耗时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sz="2000" kern="100" dirty="0">
                          <a:effectLst/>
                          <a:latin typeface="+mn-ea"/>
                          <a:ea typeface="+mn-ea"/>
                        </a:rPr>
                        <a:t>调度次数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+mn-ea"/>
                          <a:ea typeface="+mn-ea"/>
                        </a:rPr>
                        <a:t>减少比例（</a:t>
                      </a: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%</a:t>
                      </a:r>
                      <a:r>
                        <a:rPr lang="zh-CN" altLang="en-US" sz="2000" kern="100" dirty="0">
                          <a:effectLst/>
                          <a:latin typeface="+mn-ea"/>
                          <a:ea typeface="+mn-ea"/>
                        </a:rPr>
                        <a:t>）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64583891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687,065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480,727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30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0015574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671,349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634,291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5.5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6524842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725,284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711,830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1.9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91811268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887,635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476,974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46.3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6388150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731,899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546,777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25.3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54827991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682,650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529,867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22.4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56282277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798,435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519,015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35.0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7363005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826,683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502,574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lang="zh-CN" sz="2000" kern="10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39.2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17525363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759,562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517,892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31.8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44397621"/>
                  </a:ext>
                </a:extLst>
              </a:tr>
              <a:tr h="461309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lt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730,915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489,108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>
                          <a:effectLst/>
                          <a:latin typeface="+mn-ea"/>
                          <a:ea typeface="+mn-ea"/>
                        </a:rPr>
                        <a:t>100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>
                          <a:effectLst/>
                          <a:latin typeface="+mn-ea"/>
                          <a:ea typeface="+mn-ea"/>
                        </a:rPr>
                        <a:t>33.1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12391057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8A111D2-4B16-93EC-262D-05DE764B9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127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表 </a:t>
            </a: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等线 Light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4‑6</a:t>
            </a: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传统调度与缓存方式计时对比</a:t>
            </a:r>
            <a:endParaRPr kumimoji="0" lang="zh-CN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ABD819E-6551-7F35-356F-9D556458335D}"/>
              </a:ext>
            </a:extLst>
          </p:cNvPr>
          <p:cNvSpPr txBox="1"/>
          <p:nvPr/>
        </p:nvSpPr>
        <p:spPr>
          <a:xfrm>
            <a:off x="2514600" y="2933700"/>
            <a:ext cx="960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+mn-ea"/>
              </a:rPr>
              <a:t>表 </a:t>
            </a:r>
            <a:r>
              <a:rPr lang="en-US" altLang="zh-CN" sz="2000" dirty="0">
                <a:latin typeface="+mn-ea"/>
              </a:rPr>
              <a:t>5</a:t>
            </a:r>
            <a:r>
              <a:rPr lang="en-US" altLang="zh-CN" sz="2000" dirty="0" smtClean="0">
                <a:latin typeface="+mn-ea"/>
              </a:rPr>
              <a:t>  </a:t>
            </a:r>
            <a:r>
              <a:rPr lang="zh-CN" altLang="en-US" sz="2000" dirty="0" smtClean="0">
                <a:latin typeface="+mn-ea"/>
              </a:rPr>
              <a:t>模型预测缓存</a:t>
            </a:r>
            <a:r>
              <a:rPr lang="zh-CN" altLang="en-US" sz="2000" dirty="0">
                <a:latin typeface="+mn-ea"/>
              </a:rPr>
              <a:t>和传统调度的计时比较</a:t>
            </a:r>
          </a:p>
        </p:txBody>
      </p:sp>
    </p:spTree>
    <p:extLst>
      <p:ext uri="{BB962C8B-B14F-4D97-AF65-F5344CB8AC3E}">
        <p14:creationId xmlns:p14="http://schemas.microsoft.com/office/powerpoint/2010/main" val="376966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34858-ABA0-3538-F954-86DED5A3B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7AB9AC0-392A-399B-E121-502B26163B3B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8A7BE51-C18E-4A4F-8C00-72B303183DF9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741ED4B5-BD77-4166-E25B-D6456C0DE155}"/>
              </a:ext>
            </a:extLst>
          </p:cNvPr>
          <p:cNvSpPr/>
          <p:nvPr/>
        </p:nvSpPr>
        <p:spPr>
          <a:xfrm>
            <a:off x="5644432" y="3681890"/>
            <a:ext cx="12643568" cy="6605110"/>
          </a:xfrm>
          <a:custGeom>
            <a:avLst/>
            <a:gdLst/>
            <a:ahLst/>
            <a:cxnLst/>
            <a:rect l="l" t="t" r="r" b="b"/>
            <a:pathLst>
              <a:path w="12643568" h="6605110">
                <a:moveTo>
                  <a:pt x="0" y="0"/>
                </a:moveTo>
                <a:lnTo>
                  <a:pt x="12643568" y="0"/>
                </a:lnTo>
                <a:lnTo>
                  <a:pt x="12643568" y="6605110"/>
                </a:lnTo>
                <a:lnTo>
                  <a:pt x="0" y="6605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t="-88799" r="-87129" b="-49855"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324B2FD0-BF1C-30CA-249A-3D50CB9ECA71}"/>
              </a:ext>
            </a:extLst>
          </p:cNvPr>
          <p:cNvGrpSpPr/>
          <p:nvPr/>
        </p:nvGrpSpPr>
        <p:grpSpPr>
          <a:xfrm>
            <a:off x="2215662" y="2348630"/>
            <a:ext cx="14656898" cy="5599136"/>
            <a:chOff x="0" y="0"/>
            <a:chExt cx="19542530" cy="746551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CDA4F21-7C95-B250-E0FC-F9BC634804A0}"/>
                </a:ext>
              </a:extLst>
            </p:cNvPr>
            <p:cNvSpPr/>
            <p:nvPr/>
          </p:nvSpPr>
          <p:spPr>
            <a:xfrm>
              <a:off x="0" y="0"/>
              <a:ext cx="19542506" cy="7465568"/>
            </a:xfrm>
            <a:custGeom>
              <a:avLst/>
              <a:gdLst/>
              <a:ahLst/>
              <a:cxnLst/>
              <a:rect l="l" t="t" r="r" b="b"/>
              <a:pathLst>
                <a:path w="19542506" h="7465568">
                  <a:moveTo>
                    <a:pt x="0" y="0"/>
                  </a:moveTo>
                  <a:lnTo>
                    <a:pt x="19542506" y="0"/>
                  </a:lnTo>
                  <a:lnTo>
                    <a:pt x="19542506" y="7465568"/>
                  </a:lnTo>
                  <a:lnTo>
                    <a:pt x="0" y="7465568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zh-CN" altLang="en-US" dirty="0">
                  <a:solidFill>
                    <a:srgbClr val="696969"/>
                  </a:solidFill>
                  <a:ea typeface="思源黑体 3" panose="020B0500000000000000" charset="-122"/>
                </a:rPr>
                <a:t>。</a:t>
              </a:r>
              <a:endParaRPr lang="zh-CN" altLang="en-US" dirty="0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B5C6992F-E741-FD0F-A947-E7BAC3E2C0A4}"/>
              </a:ext>
            </a:extLst>
          </p:cNvPr>
          <p:cNvSpPr txBox="1"/>
          <p:nvPr/>
        </p:nvSpPr>
        <p:spPr>
          <a:xfrm>
            <a:off x="3053370" y="3365571"/>
            <a:ext cx="3470266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dirty="0">
                <a:solidFill>
                  <a:srgbClr val="000000"/>
                </a:solidFill>
                <a:latin typeface="Montserrat Ultra-Bold" panose="00000900000000000000"/>
              </a:rPr>
              <a:t>PART 3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1FDD0C2-A559-D88A-0BE2-C114179FFD14}"/>
              </a:ext>
            </a:extLst>
          </p:cNvPr>
          <p:cNvSpPr txBox="1"/>
          <p:nvPr/>
        </p:nvSpPr>
        <p:spPr>
          <a:xfrm>
            <a:off x="7371531" y="4964650"/>
            <a:ext cx="7285742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zh-CN" altLang="en-US" sz="2700" dirty="0">
                <a:solidFill>
                  <a:srgbClr val="FFC000"/>
                </a:solidFill>
                <a:latin typeface="Montserrat Ultra-Bold" panose="00000900000000000000"/>
              </a:rPr>
              <a:t>基于嵌入式系统的任务调度算法研究</a:t>
            </a:r>
            <a:endParaRPr lang="en-US" sz="2700" dirty="0">
              <a:solidFill>
                <a:srgbClr val="FFC000"/>
              </a:solidFill>
              <a:latin typeface="Montserrat Ultra-Bold" panose="00000900000000000000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FD33EE8-0761-F74F-996D-02B23C22CC18}"/>
              </a:ext>
            </a:extLst>
          </p:cNvPr>
          <p:cNvSpPr txBox="1"/>
          <p:nvPr/>
        </p:nvSpPr>
        <p:spPr>
          <a:xfrm>
            <a:off x="7371531" y="5602278"/>
            <a:ext cx="7589586" cy="335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2000" dirty="0">
                <a:solidFill>
                  <a:srgbClr val="696969"/>
                </a:solidFill>
                <a:ea typeface="思源黑体 3" panose="020B0500000000000000" charset="-122"/>
              </a:rPr>
              <a:t>当前课题遇到的问题</a:t>
            </a:r>
            <a:endParaRPr lang="en-US" sz="2000" dirty="0">
              <a:solidFill>
                <a:srgbClr val="696969"/>
              </a:solidFill>
              <a:ea typeface="思源黑体 3" panose="020B0500000000000000" charset="-122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19CA28A-19D6-A531-B446-9BD5C4666760}"/>
              </a:ext>
            </a:extLst>
          </p:cNvPr>
          <p:cNvSpPr txBox="1"/>
          <p:nvPr/>
        </p:nvSpPr>
        <p:spPr>
          <a:xfrm>
            <a:off x="7371531" y="3672365"/>
            <a:ext cx="7285742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zh-CN" altLang="en-US" sz="8100" dirty="0">
                <a:solidFill>
                  <a:srgbClr val="1D1818"/>
                </a:solidFill>
                <a:ea typeface="思源黑体-超粗体 Heavy"/>
              </a:rPr>
              <a:t>遇到问题</a:t>
            </a:r>
            <a:endParaRPr lang="en-US" sz="8100" dirty="0">
              <a:solidFill>
                <a:srgbClr val="1D1818"/>
              </a:solidFill>
              <a:ea typeface="思源黑体-超粗体 Heavy"/>
            </a:endParaRPr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0D7AF1C0-C79B-669A-A3F0-30ED697F38E1}"/>
              </a:ext>
            </a:extLst>
          </p:cNvPr>
          <p:cNvSpPr/>
          <p:nvPr/>
        </p:nvSpPr>
        <p:spPr>
          <a:xfrm flipH="1">
            <a:off x="-2326380" y="1701856"/>
            <a:ext cx="8253274" cy="8585144"/>
          </a:xfrm>
          <a:custGeom>
            <a:avLst/>
            <a:gdLst/>
            <a:ahLst/>
            <a:cxnLst/>
            <a:rect l="l" t="t" r="r" b="b"/>
            <a:pathLst>
              <a:path w="8253274" h="8585144">
                <a:moveTo>
                  <a:pt x="8253273" y="0"/>
                </a:moveTo>
                <a:lnTo>
                  <a:pt x="0" y="0"/>
                </a:lnTo>
                <a:lnTo>
                  <a:pt x="0" y="8585144"/>
                </a:lnTo>
                <a:lnTo>
                  <a:pt x="8253273" y="8585144"/>
                </a:lnTo>
                <a:lnTo>
                  <a:pt x="8253273" y="0"/>
                </a:lnTo>
                <a:close/>
              </a:path>
            </a:pathLst>
          </a:custGeom>
          <a:blipFill>
            <a:blip r:embed="rId3"/>
            <a:stretch>
              <a:fillRect l="-27868" r="-27868"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077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27BA1-7A51-6D70-5441-F78CCF6B4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FE78DC5-53C6-2B5C-0317-6C3BA6EDE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274638"/>
            <a:ext cx="12573000" cy="114300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当前的问题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2FF3C80-F483-8E43-2B50-BC7C48BE6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05100"/>
            <a:ext cx="17068800" cy="66294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训练过程中系统卡死。改进</a:t>
            </a:r>
            <a:r>
              <a:rPr lang="en-US" altLang="zh-CN" dirty="0" err="1" smtClean="0"/>
              <a:t>LiunuxOS</a:t>
            </a:r>
            <a:r>
              <a:rPr lang="zh-CN" altLang="en-US" dirty="0"/>
              <a:t>不稳定</a:t>
            </a:r>
            <a:r>
              <a:rPr lang="zh-CN" altLang="en-US" dirty="0" smtClean="0"/>
              <a:t>因素。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线程越多（</a:t>
            </a:r>
            <a:r>
              <a:rPr lang="en-US" altLang="zh-CN" dirty="0"/>
              <a:t>256</a:t>
            </a:r>
            <a:r>
              <a:rPr lang="zh-CN" altLang="en-US" dirty="0"/>
              <a:t>及以上），采样点越多（</a:t>
            </a:r>
            <a:r>
              <a:rPr lang="en-US" altLang="zh-CN" dirty="0"/>
              <a:t>16384</a:t>
            </a:r>
            <a:r>
              <a:rPr lang="zh-CN" altLang="en-US" dirty="0"/>
              <a:t>个以及以上</a:t>
            </a:r>
            <a:r>
              <a:rPr lang="zh-CN" altLang="en-US" dirty="0" smtClean="0"/>
              <a:t>），训练消耗太大，</a:t>
            </a:r>
            <a:r>
              <a:rPr lang="zh-CN" altLang="en-US" dirty="0"/>
              <a:t>且可能产生训练不收敛的问题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 smtClean="0"/>
              <a:t>RNN</a:t>
            </a:r>
            <a:r>
              <a:rPr lang="zh-CN" altLang="en-US" dirty="0" smtClean="0"/>
              <a:t>训练速度过慢。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训练准确率虚高问题。训练时预测准确率比实际测试高</a:t>
            </a:r>
            <a:r>
              <a:rPr lang="en-US" altLang="zh-CN" dirty="0"/>
              <a:t>10%-30%</a:t>
            </a:r>
            <a:r>
              <a:rPr lang="zh-CN" altLang="en-US" dirty="0"/>
              <a:t>，需要找到问题和优化。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 smtClean="0"/>
              <a:t>论文</a:t>
            </a:r>
            <a:r>
              <a:rPr lang="zh-CN" altLang="en-US" dirty="0"/>
              <a:t>编写完成前</a:t>
            </a:r>
            <a:r>
              <a:rPr lang="en-US" altLang="zh-CN" dirty="0"/>
              <a:t>3</a:t>
            </a:r>
            <a:r>
              <a:rPr lang="zh-CN" altLang="en-US" dirty="0"/>
              <a:t>章</a:t>
            </a:r>
            <a:r>
              <a:rPr lang="zh-CN" altLang="en-US" dirty="0" smtClean="0"/>
              <a:t>。模型</a:t>
            </a:r>
            <a:r>
              <a:rPr lang="zh-CN" altLang="en-US" dirty="0"/>
              <a:t>优化</a:t>
            </a:r>
            <a:r>
              <a:rPr lang="zh-CN" altLang="en-US" dirty="0" smtClean="0"/>
              <a:t>、神经网络更多的应用场景、</a:t>
            </a:r>
            <a:r>
              <a:rPr lang="zh-CN" altLang="en-US" dirty="0"/>
              <a:t>数据采集、图表展示等，需要下功夫完善。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99591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50864-8C55-4E8E-30A5-B1C6656F2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6819484-6005-742C-971C-BD376F7B0CCE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0CB4200-9D53-D4D2-FA92-D8E83BF037E4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DEAC32DD-3EB3-EF0F-7268-03F70F4AE26D}"/>
              </a:ext>
            </a:extLst>
          </p:cNvPr>
          <p:cNvSpPr/>
          <p:nvPr/>
        </p:nvSpPr>
        <p:spPr>
          <a:xfrm>
            <a:off x="5644432" y="3681890"/>
            <a:ext cx="12643568" cy="6605110"/>
          </a:xfrm>
          <a:custGeom>
            <a:avLst/>
            <a:gdLst/>
            <a:ahLst/>
            <a:cxnLst/>
            <a:rect l="l" t="t" r="r" b="b"/>
            <a:pathLst>
              <a:path w="12643568" h="6605110">
                <a:moveTo>
                  <a:pt x="0" y="0"/>
                </a:moveTo>
                <a:lnTo>
                  <a:pt x="12643568" y="0"/>
                </a:lnTo>
                <a:lnTo>
                  <a:pt x="12643568" y="6605110"/>
                </a:lnTo>
                <a:lnTo>
                  <a:pt x="0" y="66051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t="-88799" r="-87129" b="-49855"/>
            </a:stretch>
          </a:blipFill>
        </p:spPr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B6B0F45-E4A5-5F6C-1D4B-94B8BDC873D7}"/>
              </a:ext>
            </a:extLst>
          </p:cNvPr>
          <p:cNvGrpSpPr/>
          <p:nvPr/>
        </p:nvGrpSpPr>
        <p:grpSpPr>
          <a:xfrm>
            <a:off x="2215662" y="2348630"/>
            <a:ext cx="14656898" cy="5599136"/>
            <a:chOff x="0" y="0"/>
            <a:chExt cx="19542530" cy="746551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8A13CEE-41B9-0DCC-59DB-BAA1987DBE81}"/>
                </a:ext>
              </a:extLst>
            </p:cNvPr>
            <p:cNvSpPr/>
            <p:nvPr/>
          </p:nvSpPr>
          <p:spPr>
            <a:xfrm>
              <a:off x="0" y="0"/>
              <a:ext cx="19542506" cy="7465568"/>
            </a:xfrm>
            <a:custGeom>
              <a:avLst/>
              <a:gdLst/>
              <a:ahLst/>
              <a:cxnLst/>
              <a:rect l="l" t="t" r="r" b="b"/>
              <a:pathLst>
                <a:path w="19542506" h="7465568">
                  <a:moveTo>
                    <a:pt x="0" y="0"/>
                  </a:moveTo>
                  <a:lnTo>
                    <a:pt x="19542506" y="0"/>
                  </a:lnTo>
                  <a:lnTo>
                    <a:pt x="19542506" y="7465568"/>
                  </a:lnTo>
                  <a:lnTo>
                    <a:pt x="0" y="7465568"/>
                  </a:lnTo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zh-CN" altLang="en-US" dirty="0">
                  <a:solidFill>
                    <a:srgbClr val="696969"/>
                  </a:solidFill>
                  <a:ea typeface="思源黑体 3" panose="020B0500000000000000" charset="-122"/>
                </a:rPr>
                <a:t>。</a:t>
              </a:r>
              <a:endParaRPr lang="zh-CN" altLang="en-US" dirty="0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10CE376A-540C-80D4-135D-BD122EBAD9DA}"/>
              </a:ext>
            </a:extLst>
          </p:cNvPr>
          <p:cNvSpPr txBox="1"/>
          <p:nvPr/>
        </p:nvSpPr>
        <p:spPr>
          <a:xfrm>
            <a:off x="3053370" y="3365571"/>
            <a:ext cx="3470266" cy="110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dirty="0">
                <a:solidFill>
                  <a:srgbClr val="000000"/>
                </a:solidFill>
                <a:latin typeface="Montserrat Ultra-Bold" panose="00000900000000000000"/>
              </a:rPr>
              <a:t>PART 4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F0F1FC5-E11B-C3AF-7903-2A3D590CA4AB}"/>
              </a:ext>
            </a:extLst>
          </p:cNvPr>
          <p:cNvSpPr txBox="1"/>
          <p:nvPr/>
        </p:nvSpPr>
        <p:spPr>
          <a:xfrm>
            <a:off x="7371531" y="4964650"/>
            <a:ext cx="7285742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zh-CN" altLang="en-US" sz="2700" dirty="0">
                <a:solidFill>
                  <a:srgbClr val="FFC000"/>
                </a:solidFill>
                <a:latin typeface="Montserrat Ultra-Bold" panose="00000900000000000000"/>
              </a:rPr>
              <a:t>基于嵌入式系统的任务调度算法研究</a:t>
            </a:r>
            <a:endParaRPr lang="en-US" sz="2700" dirty="0">
              <a:solidFill>
                <a:srgbClr val="FFC000"/>
              </a:solidFill>
              <a:latin typeface="Montserrat Ultra-Bold" panose="00000900000000000000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E26B1EB-9ABA-9131-A845-1C64D8B68DF8}"/>
              </a:ext>
            </a:extLst>
          </p:cNvPr>
          <p:cNvSpPr txBox="1"/>
          <p:nvPr/>
        </p:nvSpPr>
        <p:spPr>
          <a:xfrm>
            <a:off x="7371531" y="5602278"/>
            <a:ext cx="7589586" cy="335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2000" dirty="0" smtClean="0">
                <a:solidFill>
                  <a:srgbClr val="696969"/>
                </a:solidFill>
                <a:ea typeface="思源黑体 3" panose="020B0500000000000000" charset="-122"/>
              </a:rPr>
              <a:t>下一步工作打算</a:t>
            </a:r>
            <a:endParaRPr lang="en-US" sz="2000" dirty="0">
              <a:solidFill>
                <a:srgbClr val="696969"/>
              </a:solidFill>
              <a:ea typeface="思源黑体 3" panose="020B0500000000000000" charset="-122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CCAC687-7F8C-DC74-7276-6C1ABDF40F68}"/>
              </a:ext>
            </a:extLst>
          </p:cNvPr>
          <p:cNvSpPr txBox="1"/>
          <p:nvPr/>
        </p:nvSpPr>
        <p:spPr>
          <a:xfrm>
            <a:off x="7371531" y="3672365"/>
            <a:ext cx="7285742" cy="123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0"/>
              </a:lnSpc>
            </a:pPr>
            <a:r>
              <a:rPr lang="zh-CN" altLang="en-US" sz="8100" dirty="0">
                <a:solidFill>
                  <a:srgbClr val="1D1818"/>
                </a:solidFill>
                <a:ea typeface="思源黑体-超粗体 Heavy"/>
              </a:rPr>
              <a:t>下一步计划</a:t>
            </a:r>
            <a:endParaRPr lang="en-US" sz="8100" dirty="0">
              <a:solidFill>
                <a:srgbClr val="1D1818"/>
              </a:solidFill>
              <a:ea typeface="思源黑体-超粗体 Heavy"/>
            </a:endParaRPr>
          </a:p>
        </p:txBody>
      </p:sp>
      <p:sp>
        <p:nvSpPr>
          <p:cNvPr id="13" name="Freeform 8">
            <a:extLst>
              <a:ext uri="{FF2B5EF4-FFF2-40B4-BE49-F238E27FC236}">
                <a16:creationId xmlns:a16="http://schemas.microsoft.com/office/drawing/2014/main" id="{6F4D6CAC-0801-1895-1063-DDABA20F5AB4}"/>
              </a:ext>
            </a:extLst>
          </p:cNvPr>
          <p:cNvSpPr/>
          <p:nvPr/>
        </p:nvSpPr>
        <p:spPr>
          <a:xfrm flipH="1">
            <a:off x="-2326380" y="1701856"/>
            <a:ext cx="8253274" cy="8585144"/>
          </a:xfrm>
          <a:custGeom>
            <a:avLst/>
            <a:gdLst/>
            <a:ahLst/>
            <a:cxnLst/>
            <a:rect l="l" t="t" r="r" b="b"/>
            <a:pathLst>
              <a:path w="8253274" h="8585144">
                <a:moveTo>
                  <a:pt x="8253273" y="0"/>
                </a:moveTo>
                <a:lnTo>
                  <a:pt x="0" y="0"/>
                </a:lnTo>
                <a:lnTo>
                  <a:pt x="0" y="8585144"/>
                </a:lnTo>
                <a:lnTo>
                  <a:pt x="8253273" y="8585144"/>
                </a:lnTo>
                <a:lnTo>
                  <a:pt x="8253273" y="0"/>
                </a:lnTo>
                <a:close/>
              </a:path>
            </a:pathLst>
          </a:custGeom>
          <a:blipFill>
            <a:blip r:embed="rId3"/>
            <a:stretch>
              <a:fillRect l="-27868" r="-27868"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7966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B609E-0A98-4E77-CBF6-2D9D0165A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AF839A6-D5CD-646D-C31A-B82F5C461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274638"/>
            <a:ext cx="12573000" cy="1143000"/>
          </a:xfrm>
        </p:spPr>
        <p:txBody>
          <a:bodyPr>
            <a:normAutofit/>
          </a:bodyPr>
          <a:lstStyle/>
          <a:p>
            <a:pPr algn="ctr"/>
            <a:r>
              <a:rPr lang="zh-CN" altLang="en-US" dirty="0"/>
              <a:t>下一步打算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9AE2EF7-68E1-67A6-E883-BA09D7EC3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705100"/>
            <a:ext cx="17068800" cy="66294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继续改进自己开发的操作系统内核</a:t>
            </a:r>
            <a:r>
              <a:rPr lang="en-US" altLang="zh-CN" dirty="0" err="1"/>
              <a:t>LiunuxOS</a:t>
            </a:r>
            <a:r>
              <a:rPr lang="zh-CN" altLang="en-US" dirty="0"/>
              <a:t>，查找可能存在的</a:t>
            </a:r>
            <a:r>
              <a:rPr lang="en-US" altLang="zh-CN" dirty="0"/>
              <a:t>bug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 smtClean="0"/>
              <a:t>测试其他模型算法，争取理论上更大的改进和突破。</a:t>
            </a:r>
            <a:endParaRPr lang="en-US" altLang="zh-CN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 smtClean="0"/>
              <a:t>LSTM</a:t>
            </a:r>
            <a:r>
              <a:rPr lang="zh-CN" altLang="en-US" dirty="0" smtClean="0"/>
              <a:t>、</a:t>
            </a:r>
            <a:r>
              <a:rPr lang="en-US" altLang="zh-CN" dirty="0" smtClean="0"/>
              <a:t>CNN</a:t>
            </a:r>
            <a:r>
              <a:rPr lang="zh-CN" altLang="en-US" dirty="0" smtClean="0"/>
              <a:t>模型场景应用。</a:t>
            </a:r>
            <a:endParaRPr lang="en-US" altLang="zh-CN" dirty="0" smtClean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 smtClean="0"/>
              <a:t>改进</a:t>
            </a:r>
            <a:r>
              <a:rPr lang="en-US" altLang="zh-CN" dirty="0" smtClean="0"/>
              <a:t>LSTM</a:t>
            </a:r>
            <a:r>
              <a:rPr lang="zh-CN" altLang="en-US" dirty="0" smtClean="0"/>
              <a:t>实现源码、提高效率，适应嵌入式设备。</a:t>
            </a:r>
            <a:endParaRPr lang="en-US" altLang="zh-CN" dirty="0" smtClean="0"/>
          </a:p>
          <a:p>
            <a:pPr marL="953262" lvl="1" indent="-514350">
              <a:buFont typeface="+mj-lt"/>
              <a:buAutoNum type="alphaLcParenR"/>
            </a:pPr>
            <a:r>
              <a:rPr lang="zh-CN" altLang="en-US" dirty="0" smtClean="0"/>
              <a:t>探索</a:t>
            </a:r>
            <a:r>
              <a:rPr lang="en-US" altLang="zh-CN" dirty="0" smtClean="0"/>
              <a:t>CNN</a:t>
            </a:r>
            <a:r>
              <a:rPr lang="zh-CN" altLang="en-US" dirty="0" smtClean="0"/>
              <a:t>等其他模型在任务调度中的应用场景。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 smtClean="0"/>
              <a:t>完善论文实验和结论部分。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6966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1E4B56-2299-199A-C533-18BC0C210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下一步打算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32B58ECD-D284-ABB8-127C-09339DF9F3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3169506"/>
              </p:ext>
            </p:extLst>
          </p:nvPr>
        </p:nvGraphicFramePr>
        <p:xfrm>
          <a:off x="3154997" y="4000500"/>
          <a:ext cx="10103803" cy="520658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49880">
                  <a:extLst>
                    <a:ext uri="{9D8B030D-6E8A-4147-A177-3AD203B41FA5}">
                      <a16:colId xmlns:a16="http://schemas.microsoft.com/office/drawing/2014/main" val="1361499509"/>
                    </a:ext>
                  </a:extLst>
                </a:gridCol>
                <a:gridCol w="5053923">
                  <a:extLst>
                    <a:ext uri="{9D8B030D-6E8A-4147-A177-3AD203B41FA5}">
                      <a16:colId xmlns:a16="http://schemas.microsoft.com/office/drawing/2014/main" val="2795926634"/>
                    </a:ext>
                  </a:extLst>
                </a:gridCol>
              </a:tblGrid>
              <a:tr h="86317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工作内容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  <a:tabLst>
                          <a:tab pos="1210945" algn="r"/>
                        </a:tabLst>
                      </a:pPr>
                      <a:r>
                        <a:rPr lang="zh-CN" altLang="en-US" sz="2000" kern="100" dirty="0">
                          <a:effectLst/>
                        </a:rPr>
                        <a:t>时间安排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2484360"/>
                  </a:ext>
                </a:extLst>
              </a:tr>
              <a:tr h="86317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测试其他模型能力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  <a:tabLst>
                          <a:tab pos="1210945" algn="r"/>
                        </a:tabLst>
                      </a:pPr>
                      <a:r>
                        <a:rPr lang="en-US" altLang="zh-CN" sz="20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2026.12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35037751"/>
                  </a:ext>
                </a:extLst>
              </a:tr>
              <a:tr h="87005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RNN/CNN</a:t>
                      </a:r>
                      <a:r>
                        <a:rPr lang="zh-CN" altLang="en-US" sz="20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场景测试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 smtClean="0">
                          <a:effectLst/>
                        </a:rPr>
                        <a:t>2026.12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09038378"/>
                  </a:ext>
                </a:extLst>
              </a:tr>
              <a:tr h="87005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其他模型验证测试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altLang="zh-CN" sz="2000" kern="100" dirty="0" smtClean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2007.1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4451168"/>
                  </a:ext>
                </a:extLst>
              </a:tr>
              <a:tr h="87005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论文初稿完成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 smtClean="0">
                          <a:effectLst/>
                        </a:rPr>
                        <a:t>2026.3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65507670"/>
                  </a:ext>
                </a:extLst>
              </a:tr>
              <a:tr h="870057"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zh-CN" altLang="en-US" sz="2000" kern="1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论文定稿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7000" algn="ctr">
                        <a:lnSpc>
                          <a:spcPts val="2000"/>
                        </a:lnSpc>
                        <a:buNone/>
                      </a:pPr>
                      <a:r>
                        <a:rPr lang="en-US" sz="2000" kern="100" dirty="0" smtClean="0">
                          <a:effectLst/>
                        </a:rPr>
                        <a:t>2027.4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75420465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73AE042-C841-25A3-0353-DCD8CD77BE70}"/>
              </a:ext>
            </a:extLst>
          </p:cNvPr>
          <p:cNvSpPr txBox="1"/>
          <p:nvPr/>
        </p:nvSpPr>
        <p:spPr>
          <a:xfrm>
            <a:off x="3154998" y="3314700"/>
            <a:ext cx="61737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表 </a:t>
            </a:r>
            <a:r>
              <a:rPr lang="en-US" altLang="zh-CN" sz="2000" dirty="0"/>
              <a:t>6</a:t>
            </a:r>
            <a:r>
              <a:rPr lang="en-US" altLang="zh-CN" sz="2000" dirty="0" smtClean="0"/>
              <a:t>  </a:t>
            </a:r>
            <a:r>
              <a:rPr lang="zh-CN" altLang="en-US" sz="2000" dirty="0"/>
              <a:t>论文时间安排</a:t>
            </a:r>
          </a:p>
        </p:txBody>
      </p:sp>
    </p:spTree>
    <p:extLst>
      <p:ext uri="{BB962C8B-B14F-4D97-AF65-F5344CB8AC3E}">
        <p14:creationId xmlns:p14="http://schemas.microsoft.com/office/powerpoint/2010/main" val="4141289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</a:path>
              </a:pathLst>
            </a:custGeom>
            <a:solidFill>
              <a:srgbClr val="FFC00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155338" y="2012157"/>
            <a:ext cx="16311562" cy="6991350"/>
            <a:chOff x="0" y="0"/>
            <a:chExt cx="21748750" cy="9321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748750" cy="9321800"/>
            </a:xfrm>
            <a:custGeom>
              <a:avLst/>
              <a:gdLst/>
              <a:ahLst/>
              <a:cxnLst/>
              <a:rect l="l" t="t" r="r" b="b"/>
              <a:pathLst>
                <a:path w="21748750" h="9321800">
                  <a:moveTo>
                    <a:pt x="0" y="0"/>
                  </a:moveTo>
                  <a:lnTo>
                    <a:pt x="21748750" y="0"/>
                  </a:lnTo>
                  <a:lnTo>
                    <a:pt x="21748750" y="9321800"/>
                  </a:lnTo>
                  <a:lnTo>
                    <a:pt x="0" y="9321800"/>
                  </a:lnTo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251922" y="0"/>
            <a:ext cx="590844" cy="5693682"/>
            <a:chOff x="0" y="0"/>
            <a:chExt cx="787792" cy="75915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87781" cy="7591634"/>
            </a:xfrm>
            <a:custGeom>
              <a:avLst/>
              <a:gdLst/>
              <a:ahLst/>
              <a:cxnLst/>
              <a:rect l="l" t="t" r="r" b="b"/>
              <a:pathLst>
                <a:path w="787781" h="7591634">
                  <a:moveTo>
                    <a:pt x="0" y="0"/>
                  </a:moveTo>
                  <a:lnTo>
                    <a:pt x="787781" y="0"/>
                  </a:lnTo>
                  <a:lnTo>
                    <a:pt x="787781" y="7591634"/>
                  </a:lnTo>
                  <a:lnTo>
                    <a:pt x="0" y="7591634"/>
                  </a:lnTo>
                  <a:close/>
                </a:path>
              </a:pathLst>
            </a:custGeom>
            <a:solidFill>
              <a:srgbClr val="1D1818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5935880" y="-160763"/>
            <a:ext cx="12352120" cy="8229600"/>
          </a:xfrm>
          <a:custGeom>
            <a:avLst/>
            <a:gdLst/>
            <a:ahLst/>
            <a:cxnLst/>
            <a:rect l="l" t="t" r="r" b="b"/>
            <a:pathLst>
              <a:path w="12352120" h="8229600">
                <a:moveTo>
                  <a:pt x="0" y="0"/>
                </a:moveTo>
                <a:lnTo>
                  <a:pt x="12352120" y="0"/>
                </a:lnTo>
                <a:lnTo>
                  <a:pt x="123521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7000"/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749904" y="2878969"/>
            <a:ext cx="11791126" cy="2654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00"/>
              </a:lnSpc>
            </a:pPr>
            <a:r>
              <a:rPr lang="zh-CN" altLang="en-US" sz="17250" dirty="0">
                <a:solidFill>
                  <a:srgbClr val="000000"/>
                </a:solidFill>
                <a:ea typeface="思源黑体-超粗体 Heavy"/>
              </a:rPr>
              <a:t>谢谢</a:t>
            </a:r>
            <a:endParaRPr lang="en-US" sz="17250" dirty="0">
              <a:solidFill>
                <a:srgbClr val="000000"/>
              </a:solidFill>
              <a:ea typeface="思源黑体-超粗体 Heavy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-1770532" y="6469636"/>
            <a:ext cx="16311562" cy="1039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735"/>
              </a:lnSpc>
              <a:spcBef>
                <a:spcPct val="0"/>
              </a:spcBef>
            </a:pPr>
            <a:r>
              <a:rPr lang="en-US" sz="5600" dirty="0" err="1">
                <a:solidFill>
                  <a:srgbClr val="000000"/>
                </a:solidFill>
                <a:ea typeface="思源黑体 3" panose="020B0500000000000000" charset="-122"/>
              </a:rPr>
              <a:t>北京交通大学</a:t>
            </a:r>
            <a:endParaRPr lang="en-US" sz="5600" dirty="0">
              <a:solidFill>
                <a:srgbClr val="000000"/>
              </a:solidFill>
              <a:ea typeface="思源黑体 3" panose="020B05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hkNTU4NWMxNDE3MzE0YTUzN2U3NWI4NzcxNjM3MTkifQ=="/>
</p:tagLst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1078</TotalTime>
  <Words>1907</Words>
  <Application>Microsoft Office PowerPoint</Application>
  <PresentationFormat>自定义</PresentationFormat>
  <Paragraphs>392</Paragraphs>
  <Slides>35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52" baseType="lpstr">
      <vt:lpstr>Montserrat Bold</vt:lpstr>
      <vt:lpstr>Montserrat Heavy</vt:lpstr>
      <vt:lpstr>等线 Light</vt:lpstr>
      <vt:lpstr>思源宋体 Bold</vt:lpstr>
      <vt:lpstr>宋体</vt:lpstr>
      <vt:lpstr>思源黑体 3</vt:lpstr>
      <vt:lpstr>黑体</vt:lpstr>
      <vt:lpstr>Calibri Light</vt:lpstr>
      <vt:lpstr>Times New Roman</vt:lpstr>
      <vt:lpstr>思源黑体 2 Bold</vt:lpstr>
      <vt:lpstr>Montserrat Ultra-Bold</vt:lpstr>
      <vt:lpstr>思源黑体-超粗体 Heavy</vt:lpstr>
      <vt:lpstr>Calibri</vt:lpstr>
      <vt:lpstr>Cambria Math</vt:lpstr>
      <vt:lpstr>等线</vt:lpstr>
      <vt:lpstr>Arial</vt:lpstr>
      <vt:lpstr>回顾</vt:lpstr>
      <vt:lpstr>PowerPoint 演示文稿</vt:lpstr>
      <vt:lpstr>PowerPoint 演示文稿</vt:lpstr>
      <vt:lpstr>PowerPoint 演示文稿</vt:lpstr>
      <vt:lpstr>研究背景</vt:lpstr>
      <vt:lpstr>研究背景</vt:lpstr>
      <vt:lpstr>PowerPoint 演示文稿</vt:lpstr>
      <vt:lpstr>存在问题</vt:lpstr>
      <vt:lpstr>PowerPoint 演示文稿</vt:lpstr>
      <vt:lpstr>解决思路</vt:lpstr>
      <vt:lpstr>PowerPoint 演示文稿</vt:lpstr>
      <vt:lpstr>PowerPoint 演示文稿</vt:lpstr>
      <vt:lpstr>模型训练过程</vt:lpstr>
      <vt:lpstr>PowerPoint 演示文稿</vt:lpstr>
      <vt:lpstr>论文进展</vt:lpstr>
      <vt:lpstr>操作系统内核实现</vt:lpstr>
      <vt:lpstr>任务调度原理</vt:lpstr>
      <vt:lpstr>任务调度实现</vt:lpstr>
      <vt:lpstr>任务调度实现</vt:lpstr>
      <vt:lpstr>任务创建栈布局</vt:lpstr>
      <vt:lpstr>基于神经网络的任务调度</vt:lpstr>
      <vt:lpstr>神经网络开源库</vt:lpstr>
      <vt:lpstr>模型训练预测准确率</vt:lpstr>
      <vt:lpstr>神经网络和其他调度比较</vt:lpstr>
      <vt:lpstr>神经网络和其他调度比较</vt:lpstr>
      <vt:lpstr>模型训练预测准确率</vt:lpstr>
      <vt:lpstr>模型真实预测准确率</vt:lpstr>
      <vt:lpstr>神经网络与任务调度的融合改进</vt:lpstr>
      <vt:lpstr>预测缓存和传统调度耗时比较</vt:lpstr>
      <vt:lpstr>预测缓存和传统调度计时比较</vt:lpstr>
      <vt:lpstr>PowerPoint 演示文稿</vt:lpstr>
      <vt:lpstr>当前的问题</vt:lpstr>
      <vt:lpstr>PowerPoint 演示文稿</vt:lpstr>
      <vt:lpstr>下一步打算</vt:lpstr>
      <vt:lpstr>下一步打算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黑黄色商务工作计划演示文稿</dc:title>
  <dc:creator>刘金光01</dc:creator>
  <cp:lastModifiedBy>刘金光01</cp:lastModifiedBy>
  <cp:revision>305</cp:revision>
  <dcterms:created xsi:type="dcterms:W3CDTF">2024-09-30T07:03:41Z</dcterms:created>
  <dcterms:modified xsi:type="dcterms:W3CDTF">2026-10-16T02:45:57Z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940445BAC85CBF4436D33B6518A1B923_32</vt:lpwstr>
  </property>
  <property fmtid="{D5CDD505-2E9C-101B-9397-08002B2CF9AE}" pid="3" name="KSOProductBuildVer">
    <vt:lpwstr>2052-6.11.0.8885</vt:lpwstr>
  </property>
</Properties>
</file>